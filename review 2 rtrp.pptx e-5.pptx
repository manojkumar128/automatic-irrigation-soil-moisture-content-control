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6" r:id="rId1"/>
  </p:sldMasterIdLst>
  <p:sldIdLst>
    <p:sldId id="256" r:id="rId2"/>
    <p:sldId id="257" r:id="rId3"/>
    <p:sldId id="258" r:id="rId4"/>
    <p:sldId id="259" r:id="rId5"/>
    <p:sldId id="260" r:id="rId6"/>
    <p:sldId id="261" r:id="rId7"/>
    <p:sldId id="262" r:id="rId8"/>
    <p:sldId id="281" r:id="rId9"/>
    <p:sldId id="264" r:id="rId10"/>
    <p:sldId id="265" r:id="rId11"/>
    <p:sldId id="266" r:id="rId12"/>
    <p:sldId id="267" r:id="rId13"/>
    <p:sldId id="268" r:id="rId14"/>
    <p:sldId id="269" r:id="rId15"/>
    <p:sldId id="270" r:id="rId16"/>
    <p:sldId id="273" r:id="rId17"/>
    <p:sldId id="274" r:id="rId18"/>
    <p:sldId id="275" r:id="rId19"/>
    <p:sldId id="276" r:id="rId20"/>
    <p:sldId id="277" r:id="rId21"/>
    <p:sldId id="282" r:id="rId22"/>
    <p:sldId id="271" r:id="rId23"/>
    <p:sldId id="279" r:id="rId24"/>
    <p:sldId id="272" r:id="rId25"/>
    <p:sldId id="280"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viewProps" Target="viewProp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presProps" Target="presProps.xml" /><Relationship Id="rId30"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593A5-61F3-D2A1-675C-B22489153424}"/>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7AAD2966-832C-8939-AF43-BF845711DC1D}"/>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99916EE-9663-3496-016A-61F03D9FD5CA}"/>
              </a:ext>
            </a:extLst>
          </p:cNvPr>
          <p:cNvSpPr>
            <a:spLocks noGrp="1"/>
          </p:cNvSpPr>
          <p:nvPr>
            <p:ph type="dt" sz="half" idx="10"/>
          </p:nvPr>
        </p:nvSpPr>
        <p:spPr/>
        <p:txBody>
          <a:bodyPr/>
          <a:lstStyle/>
          <a:p>
            <a:fld id="{5BCAD085-E8A6-8845-BD4E-CB4CCA059FC4}" type="datetimeFigureOut">
              <a:rPr lang="en-US" smtClean="0"/>
              <a:pPr/>
              <a:t>3/28/2026</a:t>
            </a:fld>
            <a:endParaRPr lang="en-US"/>
          </a:p>
        </p:txBody>
      </p:sp>
      <p:sp>
        <p:nvSpPr>
          <p:cNvPr id="5" name="Footer Placeholder 4">
            <a:extLst>
              <a:ext uri="{FF2B5EF4-FFF2-40B4-BE49-F238E27FC236}">
                <a16:creationId xmlns:a16="http://schemas.microsoft.com/office/drawing/2014/main" id="{8A2C8A8C-EE06-535B-9CA9-92A8173C82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E01347-A0A3-A09B-422A-E74911C43DF7}"/>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949398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DB277-0BB7-5722-C97C-23E010E4AE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638437A-0F50-2809-C2E3-BD77C412E0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42658B-40B6-B354-465E-FA4F38B9B336}"/>
              </a:ext>
            </a:extLst>
          </p:cNvPr>
          <p:cNvSpPr>
            <a:spLocks noGrp="1"/>
          </p:cNvSpPr>
          <p:nvPr>
            <p:ph type="dt" sz="half" idx="10"/>
          </p:nvPr>
        </p:nvSpPr>
        <p:spPr/>
        <p:txBody>
          <a:bodyPr/>
          <a:lstStyle/>
          <a:p>
            <a:fld id="{5BCAD085-E8A6-8845-BD4E-CB4CCA059FC4}" type="datetimeFigureOut">
              <a:rPr lang="en-US" smtClean="0"/>
              <a:pPr/>
              <a:t>3/28/2026</a:t>
            </a:fld>
            <a:endParaRPr lang="en-US"/>
          </a:p>
        </p:txBody>
      </p:sp>
      <p:sp>
        <p:nvSpPr>
          <p:cNvPr id="5" name="Footer Placeholder 4">
            <a:extLst>
              <a:ext uri="{FF2B5EF4-FFF2-40B4-BE49-F238E27FC236}">
                <a16:creationId xmlns:a16="http://schemas.microsoft.com/office/drawing/2014/main" id="{E21717FC-23DD-58D4-94A1-BB41CABF9C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5795B5-7A85-BADD-4641-938B9004F21B}"/>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886185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E6826-7050-ED22-8D03-3BE5937A3A23}"/>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BCBA98E-85A2-FB62-A69A-19A164B3F537}"/>
              </a:ext>
            </a:extLst>
          </p:cNvPr>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B8E4BA-B5E6-3C59-9817-36F7E6CBE565}"/>
              </a:ext>
            </a:extLst>
          </p:cNvPr>
          <p:cNvSpPr>
            <a:spLocks noGrp="1"/>
          </p:cNvSpPr>
          <p:nvPr>
            <p:ph type="dt" sz="half" idx="10"/>
          </p:nvPr>
        </p:nvSpPr>
        <p:spPr/>
        <p:txBody>
          <a:bodyPr/>
          <a:lstStyle/>
          <a:p>
            <a:fld id="{5BCAD085-E8A6-8845-BD4E-CB4CCA059FC4}" type="datetimeFigureOut">
              <a:rPr lang="en-US" smtClean="0"/>
              <a:pPr/>
              <a:t>3/28/2026</a:t>
            </a:fld>
            <a:endParaRPr lang="en-US"/>
          </a:p>
        </p:txBody>
      </p:sp>
      <p:sp>
        <p:nvSpPr>
          <p:cNvPr id="5" name="Footer Placeholder 4">
            <a:extLst>
              <a:ext uri="{FF2B5EF4-FFF2-40B4-BE49-F238E27FC236}">
                <a16:creationId xmlns:a16="http://schemas.microsoft.com/office/drawing/2014/main" id="{41435927-6C78-79B3-B408-1199FEA409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2F847E-E9ED-3AAB-552F-017E2FEFB234}"/>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82192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78C31-AC8E-3A4F-EA4F-AF43C783B4C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7444A8-A057-DF70-BCD3-457C4FD8E602}"/>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9F1BA60-B899-B0F0-6DA9-98B6B50BDF10}"/>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1C54BD8-7288-1570-A03D-D87046471CE7}"/>
              </a:ext>
            </a:extLst>
          </p:cNvPr>
          <p:cNvSpPr>
            <a:spLocks noGrp="1"/>
          </p:cNvSpPr>
          <p:nvPr>
            <p:ph type="dt" sz="half" idx="10"/>
          </p:nvPr>
        </p:nvSpPr>
        <p:spPr/>
        <p:txBody>
          <a:bodyPr/>
          <a:lstStyle/>
          <a:p>
            <a:fld id="{5BCAD085-E8A6-8845-BD4E-CB4CCA059FC4}" type="datetimeFigureOut">
              <a:rPr lang="en-US" smtClean="0"/>
              <a:pPr/>
              <a:t>3/28/2026</a:t>
            </a:fld>
            <a:endParaRPr lang="en-US"/>
          </a:p>
        </p:txBody>
      </p:sp>
      <p:sp>
        <p:nvSpPr>
          <p:cNvPr id="6" name="Footer Placeholder 5">
            <a:extLst>
              <a:ext uri="{FF2B5EF4-FFF2-40B4-BE49-F238E27FC236}">
                <a16:creationId xmlns:a16="http://schemas.microsoft.com/office/drawing/2014/main" id="{1B4FC52C-CD61-16BC-9B24-4DD0BA7904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03DCED-D29A-167B-BB3F-11367849BC41}"/>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856160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0B900-B65B-2E8E-39B1-905C49DF5A9C}"/>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3C824E0-0CA1-C705-193E-D96B894E592C}"/>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E345CB67-6AA8-6502-F136-4CFE90B5A261}"/>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9FFDCD7-4E43-F80C-2875-E630A1290370}"/>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27F608EC-5956-B0A4-6BD7-583AA9D8A261}"/>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4DC95B7-E8C6-9AB2-8389-D8D8B029339F}"/>
              </a:ext>
            </a:extLst>
          </p:cNvPr>
          <p:cNvSpPr>
            <a:spLocks noGrp="1"/>
          </p:cNvSpPr>
          <p:nvPr>
            <p:ph type="dt" sz="half" idx="10"/>
          </p:nvPr>
        </p:nvSpPr>
        <p:spPr/>
        <p:txBody>
          <a:bodyPr/>
          <a:lstStyle/>
          <a:p>
            <a:fld id="{5BCAD085-E8A6-8845-BD4E-CB4CCA059FC4}" type="datetimeFigureOut">
              <a:rPr lang="en-US" smtClean="0"/>
              <a:pPr/>
              <a:t>3/28/2026</a:t>
            </a:fld>
            <a:endParaRPr lang="en-US"/>
          </a:p>
        </p:txBody>
      </p:sp>
      <p:sp>
        <p:nvSpPr>
          <p:cNvPr id="8" name="Footer Placeholder 7">
            <a:extLst>
              <a:ext uri="{FF2B5EF4-FFF2-40B4-BE49-F238E27FC236}">
                <a16:creationId xmlns:a16="http://schemas.microsoft.com/office/drawing/2014/main" id="{8784848F-755C-358E-A62B-BBAED510850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EB8184C-1C29-836C-D4B8-6C903E7CB4D5}"/>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967309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0EF87-D653-CE7A-C22D-FB7C52838D5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4BB408A-E3EE-7343-4CB0-9B68D3E9229D}"/>
              </a:ext>
            </a:extLst>
          </p:cNvPr>
          <p:cNvSpPr>
            <a:spLocks noGrp="1"/>
          </p:cNvSpPr>
          <p:nvPr>
            <p:ph type="dt" sz="half" idx="10"/>
          </p:nvPr>
        </p:nvSpPr>
        <p:spPr/>
        <p:txBody>
          <a:bodyPr/>
          <a:lstStyle/>
          <a:p>
            <a:fld id="{5BCAD085-E8A6-8845-BD4E-CB4CCA059FC4}" type="datetimeFigureOut">
              <a:rPr lang="en-US" smtClean="0"/>
              <a:pPr/>
              <a:t>3/28/2026</a:t>
            </a:fld>
            <a:endParaRPr lang="en-US"/>
          </a:p>
        </p:txBody>
      </p:sp>
      <p:sp>
        <p:nvSpPr>
          <p:cNvPr id="4" name="Footer Placeholder 3">
            <a:extLst>
              <a:ext uri="{FF2B5EF4-FFF2-40B4-BE49-F238E27FC236}">
                <a16:creationId xmlns:a16="http://schemas.microsoft.com/office/drawing/2014/main" id="{25005652-B92A-F778-74EE-DBC29C639E3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A3A9F6-47D7-FF99-6A68-C3173C4B5CE7}"/>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54423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6B3AF3-FDAF-3055-C4F4-09C799796E15}"/>
              </a:ext>
            </a:extLst>
          </p:cNvPr>
          <p:cNvSpPr>
            <a:spLocks noGrp="1"/>
          </p:cNvSpPr>
          <p:nvPr>
            <p:ph type="dt" sz="half" idx="10"/>
          </p:nvPr>
        </p:nvSpPr>
        <p:spPr/>
        <p:txBody>
          <a:bodyPr/>
          <a:lstStyle/>
          <a:p>
            <a:fld id="{5BCAD085-E8A6-8845-BD4E-CB4CCA059FC4}" type="datetimeFigureOut">
              <a:rPr lang="en-US" smtClean="0"/>
              <a:pPr/>
              <a:t>3/28/2026</a:t>
            </a:fld>
            <a:endParaRPr lang="en-US"/>
          </a:p>
        </p:txBody>
      </p:sp>
      <p:sp>
        <p:nvSpPr>
          <p:cNvPr id="3" name="Footer Placeholder 2">
            <a:extLst>
              <a:ext uri="{FF2B5EF4-FFF2-40B4-BE49-F238E27FC236}">
                <a16:creationId xmlns:a16="http://schemas.microsoft.com/office/drawing/2014/main" id="{B257152E-26CA-352A-C3E4-C8AAC39BB3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4DE39F-E250-C172-3E54-F0AF587C8CFE}"/>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762398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946D5-9641-D65D-1326-A0A8A56AB10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D441564-C3E7-C578-CC4A-10417E89FF06}"/>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E22ADB7-F46B-CE41-4F12-E73482271B58}"/>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D6EACE95-FA61-73BE-2D4B-60AF91D9EB6E}"/>
              </a:ext>
            </a:extLst>
          </p:cNvPr>
          <p:cNvSpPr>
            <a:spLocks noGrp="1"/>
          </p:cNvSpPr>
          <p:nvPr>
            <p:ph type="dt" sz="half" idx="10"/>
          </p:nvPr>
        </p:nvSpPr>
        <p:spPr/>
        <p:txBody>
          <a:bodyPr/>
          <a:lstStyle/>
          <a:p>
            <a:fld id="{5BCAD085-E8A6-8845-BD4E-CB4CCA059FC4}" type="datetimeFigureOut">
              <a:rPr lang="en-US" smtClean="0"/>
              <a:pPr/>
              <a:t>3/28/2026</a:t>
            </a:fld>
            <a:endParaRPr lang="en-US"/>
          </a:p>
        </p:txBody>
      </p:sp>
      <p:sp>
        <p:nvSpPr>
          <p:cNvPr id="6" name="Footer Placeholder 5">
            <a:extLst>
              <a:ext uri="{FF2B5EF4-FFF2-40B4-BE49-F238E27FC236}">
                <a16:creationId xmlns:a16="http://schemas.microsoft.com/office/drawing/2014/main" id="{5A7EE244-F2DB-FEE0-C192-9A533EE0D1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546FA8-E2C6-AC05-9D78-4B9AAC4937AA}"/>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928743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5FBC7-C4B1-16F7-CE69-0C834E6642AF}"/>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9982F0F-5A77-4987-63BE-097E6687354E}"/>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EEB565E6-1A88-66DA-59AF-889586A4D07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97D07C9-9B44-A75C-8C27-8A0BAD15D0E9}"/>
              </a:ext>
            </a:extLst>
          </p:cNvPr>
          <p:cNvSpPr>
            <a:spLocks noGrp="1"/>
          </p:cNvSpPr>
          <p:nvPr>
            <p:ph type="dt" sz="half" idx="10"/>
          </p:nvPr>
        </p:nvSpPr>
        <p:spPr/>
        <p:txBody>
          <a:bodyPr/>
          <a:lstStyle/>
          <a:p>
            <a:fld id="{5BCAD085-E8A6-8845-BD4E-CB4CCA059FC4}" type="datetimeFigureOut">
              <a:rPr lang="en-US" smtClean="0"/>
              <a:pPr/>
              <a:t>3/28/2026</a:t>
            </a:fld>
            <a:endParaRPr lang="en-US"/>
          </a:p>
        </p:txBody>
      </p:sp>
      <p:sp>
        <p:nvSpPr>
          <p:cNvPr id="6" name="Footer Placeholder 5">
            <a:extLst>
              <a:ext uri="{FF2B5EF4-FFF2-40B4-BE49-F238E27FC236}">
                <a16:creationId xmlns:a16="http://schemas.microsoft.com/office/drawing/2014/main" id="{E983439F-EF9E-2B27-886A-B0BDD09291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39D55B-6263-00FA-3E94-3BC214CC4C7A}"/>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20897180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AA2A1-3C49-3590-8C14-B8495A988D0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4E8D4B3-5DFB-7328-18A4-520D03779B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2F4D137-6B23-A100-873E-CC8DE5B34A6D}"/>
              </a:ext>
            </a:extLst>
          </p:cNvPr>
          <p:cNvSpPr>
            <a:spLocks noGrp="1"/>
          </p:cNvSpPr>
          <p:nvPr>
            <p:ph type="dt" sz="half" idx="10"/>
          </p:nvPr>
        </p:nvSpPr>
        <p:spPr/>
        <p:txBody>
          <a:bodyPr/>
          <a:lstStyle/>
          <a:p>
            <a:fld id="{5BCAD085-E8A6-8845-BD4E-CB4CCA059FC4}" type="datetimeFigureOut">
              <a:rPr lang="en-US" smtClean="0"/>
              <a:pPr/>
              <a:t>3/28/2026</a:t>
            </a:fld>
            <a:endParaRPr lang="en-US"/>
          </a:p>
        </p:txBody>
      </p:sp>
      <p:sp>
        <p:nvSpPr>
          <p:cNvPr id="5" name="Footer Placeholder 4">
            <a:extLst>
              <a:ext uri="{FF2B5EF4-FFF2-40B4-BE49-F238E27FC236}">
                <a16:creationId xmlns:a16="http://schemas.microsoft.com/office/drawing/2014/main" id="{0342F47F-1DC7-9FC3-8013-94A774679B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DDC039-99AB-B7C9-AD52-9B7F8E841E5B}"/>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13324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4C4B46-C488-EC3C-44F9-C752AB8BBA3B}"/>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CCF8DC2-981F-51EE-E15B-4C80E8DEF92A}"/>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B71A6F-9546-8742-AD0D-771B16820E78}"/>
              </a:ext>
            </a:extLst>
          </p:cNvPr>
          <p:cNvSpPr>
            <a:spLocks noGrp="1"/>
          </p:cNvSpPr>
          <p:nvPr>
            <p:ph type="dt" sz="half" idx="10"/>
          </p:nvPr>
        </p:nvSpPr>
        <p:spPr/>
        <p:txBody>
          <a:bodyPr/>
          <a:lstStyle/>
          <a:p>
            <a:fld id="{5BCAD085-E8A6-8845-BD4E-CB4CCA059FC4}" type="datetimeFigureOut">
              <a:rPr lang="en-US" smtClean="0"/>
              <a:pPr/>
              <a:t>3/28/2026</a:t>
            </a:fld>
            <a:endParaRPr lang="en-US"/>
          </a:p>
        </p:txBody>
      </p:sp>
      <p:sp>
        <p:nvSpPr>
          <p:cNvPr id="5" name="Footer Placeholder 4">
            <a:extLst>
              <a:ext uri="{FF2B5EF4-FFF2-40B4-BE49-F238E27FC236}">
                <a16:creationId xmlns:a16="http://schemas.microsoft.com/office/drawing/2014/main" id="{5964BA3B-FC43-8B2C-7F0B-D42AB1EB41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A67CCB-292C-5420-FD0E-8E0B64F18004}"/>
              </a:ext>
            </a:extLst>
          </p:cNvPr>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val="3740379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73AEC0-DB65-200C-DF97-5502B0123927}"/>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C3ACFCB-C6EE-FACD-98E5-1942372A711A}"/>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D1352A-4BDA-D985-5D81-1D71753FFB5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5BCAD085-E8A6-8845-BD4E-CB4CCA059FC4}" type="datetimeFigureOut">
              <a:rPr lang="en-US" smtClean="0"/>
              <a:pPr/>
              <a:t>3/28/2026</a:t>
            </a:fld>
            <a:endParaRPr lang="en-US"/>
          </a:p>
        </p:txBody>
      </p:sp>
      <p:sp>
        <p:nvSpPr>
          <p:cNvPr id="5" name="Footer Placeholder 4">
            <a:extLst>
              <a:ext uri="{FF2B5EF4-FFF2-40B4-BE49-F238E27FC236}">
                <a16:creationId xmlns:a16="http://schemas.microsoft.com/office/drawing/2014/main" id="{2B8E1E64-F156-1EA0-1BC4-F97884E2EF48}"/>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F1D388B-D3D9-03AC-D49D-B8583F2C305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val="2553909839"/>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06">
            <a:extLst>
              <a:ext uri="{FF2B5EF4-FFF2-40B4-BE49-F238E27FC236}">
                <a16:creationId xmlns:a16="http://schemas.microsoft.com/office/drawing/2014/main" id="{2E55D7AE-E92E-5C78-C7DB-EEB9D8ED7FB5}"/>
              </a:ext>
            </a:extLst>
          </p:cNvPr>
          <p:cNvSpPr txBox="1">
            <a:spLocks noGrp="1"/>
          </p:cNvSpPr>
          <p:nvPr>
            <p:ph type="title"/>
          </p:nvPr>
        </p:nvSpPr>
        <p:spPr>
          <a:xfrm>
            <a:off x="2444633" y="874082"/>
            <a:ext cx="4436745" cy="427990"/>
          </a:xfrm>
          <a:prstGeom prst="rect">
            <a:avLst/>
          </a:prstGeom>
        </p:spPr>
        <p:txBody>
          <a:bodyPr vert="horz" wrap="square" lIns="0" tIns="11430" rIns="0" bIns="0" rtlCol="0">
            <a:spAutoFit/>
          </a:bodyPr>
          <a:lstStyle/>
          <a:p>
            <a:pPr marL="12700">
              <a:lnSpc>
                <a:spcPct val="100000"/>
              </a:lnSpc>
              <a:spcBef>
                <a:spcPts val="90"/>
              </a:spcBef>
            </a:pPr>
            <a:r>
              <a:rPr sz="2650" dirty="0">
                <a:solidFill>
                  <a:srgbClr val="702FA0"/>
                </a:solidFill>
                <a:latin typeface="Times New Roman" panose="02020603050405020304" pitchFamily="18" charset="0"/>
                <a:cs typeface="Times New Roman" panose="02020603050405020304" pitchFamily="18" charset="0"/>
              </a:rPr>
              <a:t>CMR</a:t>
            </a:r>
            <a:r>
              <a:rPr sz="2650" spc="-60" dirty="0">
                <a:solidFill>
                  <a:srgbClr val="702FA0"/>
                </a:solidFill>
                <a:latin typeface="Times New Roman" panose="02020603050405020304" pitchFamily="18" charset="0"/>
                <a:cs typeface="Times New Roman" panose="02020603050405020304" pitchFamily="18" charset="0"/>
              </a:rPr>
              <a:t> </a:t>
            </a:r>
            <a:r>
              <a:rPr sz="2650" spc="-25" dirty="0">
                <a:solidFill>
                  <a:srgbClr val="702FA0"/>
                </a:solidFill>
                <a:latin typeface="Times New Roman" panose="02020603050405020304" pitchFamily="18" charset="0"/>
                <a:cs typeface="Times New Roman" panose="02020603050405020304" pitchFamily="18" charset="0"/>
              </a:rPr>
              <a:t>TECHNICAL</a:t>
            </a:r>
            <a:r>
              <a:rPr sz="2650" spc="-150" dirty="0">
                <a:solidFill>
                  <a:srgbClr val="702FA0"/>
                </a:solidFill>
                <a:latin typeface="Times New Roman" panose="02020603050405020304" pitchFamily="18" charset="0"/>
                <a:cs typeface="Times New Roman" panose="02020603050405020304" pitchFamily="18" charset="0"/>
              </a:rPr>
              <a:t> </a:t>
            </a:r>
            <a:r>
              <a:rPr sz="2650" spc="-10" dirty="0">
                <a:solidFill>
                  <a:srgbClr val="702FA0"/>
                </a:solidFill>
                <a:latin typeface="Times New Roman" panose="02020603050405020304" pitchFamily="18" charset="0"/>
                <a:cs typeface="Times New Roman" panose="02020603050405020304" pitchFamily="18" charset="0"/>
              </a:rPr>
              <a:t>CAMPUS</a:t>
            </a:r>
            <a:endParaRPr sz="265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2729865"/>
            <a:ext cx="8229600" cy="1769745"/>
          </a:xfrm>
        </p:spPr>
        <p:txBody>
          <a:bodyPr>
            <a:scene3d>
              <a:camera prst="orthographicFront"/>
              <a:lightRig rig="threePt" dir="t"/>
            </a:scene3d>
          </a:bodyPr>
          <a:lstStyle/>
          <a:p>
            <a:pPr marL="0" indent="0" algn="ctr">
              <a:buNone/>
            </a:pPr>
            <a:endParaRPr b="1" dirty="0">
              <a:ln/>
              <a:solidFill>
                <a:schemeClr val="tx1"/>
              </a:solidFill>
              <a:effectLst>
                <a:outerShdw blurRad="38100" dist="19050" dir="2700000" algn="tl" rotWithShape="0">
                  <a:schemeClr val="dk1">
                    <a:alpha val="40000"/>
                  </a:schemeClr>
                </a:outerShdw>
              </a:effectLst>
            </a:endParaRPr>
          </a:p>
          <a:p>
            <a:pPr marL="0" indent="0" algn="ctr">
              <a:buNone/>
            </a:pPr>
            <a:endParaRPr b="1" dirty="0">
              <a:ln/>
              <a:solidFill>
                <a:schemeClr val="tx1"/>
              </a:solidFill>
              <a:effectLst>
                <a:outerShdw blurRad="38100" dist="19050" dir="2700000" algn="tl" rotWithShape="0">
                  <a:schemeClr val="dk1">
                    <a:alpha val="40000"/>
                  </a:schemeClr>
                </a:outerShdw>
              </a:effectLst>
            </a:endParaRPr>
          </a:p>
          <a:p>
            <a:pPr marL="0" indent="0">
              <a:buNone/>
            </a:pPr>
            <a:endParaRPr b="1" dirty="0">
              <a:ln/>
              <a:solidFill>
                <a:schemeClr val="tx1"/>
              </a:solidFill>
              <a:effectLst>
                <a:outerShdw blurRad="38100" dist="19050" dir="2700000" algn="tl" rotWithShape="0">
                  <a:schemeClr val="dk1">
                    <a:alpha val="40000"/>
                  </a:schemeClr>
                </a:outerShdw>
              </a:effectLst>
            </a:endParaRPr>
          </a:p>
        </p:txBody>
      </p:sp>
      <p:pic>
        <p:nvPicPr>
          <p:cNvPr id="4" name="Picture 3" descr="cmr"/>
          <p:cNvPicPr>
            <a:picLocks noChangeAspect="1"/>
          </p:cNvPicPr>
          <p:nvPr/>
        </p:nvPicPr>
        <p:blipFill>
          <a:blip r:embed="rId2"/>
          <a:stretch>
            <a:fillRect/>
          </a:stretch>
        </p:blipFill>
        <p:spPr>
          <a:xfrm>
            <a:off x="156984" y="290592"/>
            <a:ext cx="1856899" cy="1464062"/>
          </a:xfrm>
          <a:prstGeom prst="rect">
            <a:avLst/>
          </a:prstGeom>
        </p:spPr>
      </p:pic>
      <p:sp>
        <p:nvSpPr>
          <p:cNvPr id="5" name="Text Box 4"/>
          <p:cNvSpPr txBox="1"/>
          <p:nvPr/>
        </p:nvSpPr>
        <p:spPr>
          <a:xfrm>
            <a:off x="5501429" y="5475033"/>
            <a:ext cx="3354705" cy="922020"/>
          </a:xfrm>
          <a:prstGeom prst="rect">
            <a:avLst/>
          </a:prstGeom>
          <a:noFill/>
        </p:spPr>
        <p:txBody>
          <a:bodyPr wrap="square" rtlCol="0">
            <a:spAutoFit/>
          </a:bodyPr>
          <a:lstStyle/>
          <a:p>
            <a:r>
              <a:rPr lang="en-US" dirty="0"/>
              <a:t>Ch. Pavithra [247R1A05U0]</a:t>
            </a:r>
          </a:p>
          <a:p>
            <a:r>
              <a:rPr lang="en-US" dirty="0" err="1"/>
              <a:t>M.Ramakanth</a:t>
            </a:r>
            <a:r>
              <a:rPr lang="en-US" dirty="0"/>
              <a:t> [257R5A0526]</a:t>
            </a:r>
          </a:p>
          <a:p>
            <a:r>
              <a:rPr lang="en-US" dirty="0" err="1"/>
              <a:t>B.Bhageerath</a:t>
            </a:r>
            <a:r>
              <a:rPr lang="en-US" dirty="0"/>
              <a:t> [247R1A05T2]</a:t>
            </a:r>
          </a:p>
        </p:txBody>
      </p:sp>
      <p:sp>
        <p:nvSpPr>
          <p:cNvPr id="6" name="object 107">
            <a:extLst>
              <a:ext uri="{FF2B5EF4-FFF2-40B4-BE49-F238E27FC236}">
                <a16:creationId xmlns:a16="http://schemas.microsoft.com/office/drawing/2014/main" id="{DD94C9A0-72E5-5029-D695-C92E44FA3AFC}"/>
              </a:ext>
            </a:extLst>
          </p:cNvPr>
          <p:cNvSpPr txBox="1"/>
          <p:nvPr/>
        </p:nvSpPr>
        <p:spPr>
          <a:xfrm>
            <a:off x="2316566" y="1457409"/>
            <a:ext cx="4692881" cy="2432717"/>
          </a:xfrm>
          <a:prstGeom prst="rect">
            <a:avLst/>
          </a:prstGeom>
        </p:spPr>
        <p:txBody>
          <a:bodyPr vert="horz" wrap="square" lIns="0" tIns="16510" rIns="0" bIns="0" rtlCol="0">
            <a:spAutoFit/>
          </a:bodyPr>
          <a:lstStyle/>
          <a:p>
            <a:pPr marL="929640">
              <a:lnSpc>
                <a:spcPct val="100000"/>
              </a:lnSpc>
              <a:spcBef>
                <a:spcPts val="130"/>
              </a:spcBef>
            </a:pPr>
            <a:r>
              <a:rPr sz="1950" dirty="0">
                <a:solidFill>
                  <a:srgbClr val="FF0000"/>
                </a:solidFill>
                <a:latin typeface="Times New Roman"/>
                <a:cs typeface="Times New Roman"/>
              </a:rPr>
              <a:t>UGC</a:t>
            </a:r>
            <a:r>
              <a:rPr sz="1950" spc="-60" dirty="0">
                <a:solidFill>
                  <a:srgbClr val="FF0000"/>
                </a:solidFill>
                <a:latin typeface="Times New Roman"/>
                <a:cs typeface="Times New Roman"/>
              </a:rPr>
              <a:t> </a:t>
            </a:r>
            <a:r>
              <a:rPr sz="1950" spc="-10" dirty="0">
                <a:solidFill>
                  <a:srgbClr val="FF0000"/>
                </a:solidFill>
                <a:latin typeface="Times New Roman"/>
                <a:cs typeface="Times New Roman"/>
              </a:rPr>
              <a:t>AUTONOMOUS</a:t>
            </a:r>
            <a:endParaRPr sz="1950" dirty="0">
              <a:latin typeface="Times New Roman"/>
              <a:cs typeface="Times New Roman"/>
            </a:endParaRPr>
          </a:p>
          <a:p>
            <a:pPr marL="3175" algn="ctr">
              <a:lnSpc>
                <a:spcPct val="100000"/>
              </a:lnSpc>
              <a:spcBef>
                <a:spcPts val="1545"/>
              </a:spcBef>
            </a:pPr>
            <a:r>
              <a:rPr sz="1200" b="1" dirty="0">
                <a:latin typeface="Times New Roman"/>
                <a:cs typeface="Times New Roman"/>
              </a:rPr>
              <a:t>Accredited</a:t>
            </a:r>
            <a:r>
              <a:rPr sz="1200" b="1" spc="-15" dirty="0">
                <a:latin typeface="Times New Roman"/>
                <a:cs typeface="Times New Roman"/>
              </a:rPr>
              <a:t> </a:t>
            </a:r>
            <a:r>
              <a:rPr sz="1200" b="1" dirty="0">
                <a:latin typeface="Times New Roman"/>
                <a:cs typeface="Times New Roman"/>
              </a:rPr>
              <a:t>by</a:t>
            </a:r>
            <a:r>
              <a:rPr sz="1200" b="1" spc="-15" dirty="0">
                <a:latin typeface="Times New Roman"/>
                <a:cs typeface="Times New Roman"/>
              </a:rPr>
              <a:t> </a:t>
            </a:r>
            <a:r>
              <a:rPr sz="1200" b="1" dirty="0">
                <a:latin typeface="Times New Roman"/>
                <a:cs typeface="Times New Roman"/>
              </a:rPr>
              <a:t>NBA</a:t>
            </a:r>
            <a:r>
              <a:rPr sz="1200" b="1" spc="-50" dirty="0">
                <a:latin typeface="Times New Roman"/>
                <a:cs typeface="Times New Roman"/>
              </a:rPr>
              <a:t> </a:t>
            </a:r>
            <a:r>
              <a:rPr sz="1200" b="1" dirty="0">
                <a:latin typeface="Times New Roman"/>
                <a:cs typeface="Times New Roman"/>
              </a:rPr>
              <a:t>&amp;</a:t>
            </a:r>
            <a:r>
              <a:rPr sz="1200" b="1" spc="-10" dirty="0">
                <a:latin typeface="Times New Roman"/>
                <a:cs typeface="Times New Roman"/>
              </a:rPr>
              <a:t> </a:t>
            </a:r>
            <a:r>
              <a:rPr sz="1200" b="1" dirty="0">
                <a:latin typeface="Times New Roman"/>
                <a:cs typeface="Times New Roman"/>
              </a:rPr>
              <a:t>NAAC</a:t>
            </a:r>
            <a:r>
              <a:rPr sz="1200" b="1" spc="5" dirty="0">
                <a:latin typeface="Times New Roman"/>
                <a:cs typeface="Times New Roman"/>
              </a:rPr>
              <a:t> </a:t>
            </a:r>
            <a:r>
              <a:rPr sz="1200" b="1" spc="-10" dirty="0">
                <a:latin typeface="Times New Roman"/>
                <a:cs typeface="Times New Roman"/>
              </a:rPr>
              <a:t>with</a:t>
            </a:r>
            <a:r>
              <a:rPr sz="1200" b="1" spc="-80" dirty="0">
                <a:latin typeface="Times New Roman"/>
                <a:cs typeface="Times New Roman"/>
              </a:rPr>
              <a:t> </a:t>
            </a:r>
            <a:r>
              <a:rPr sz="1200" b="1" dirty="0">
                <a:latin typeface="Times New Roman"/>
                <a:cs typeface="Times New Roman"/>
              </a:rPr>
              <a:t>A</a:t>
            </a:r>
            <a:r>
              <a:rPr sz="1200" b="1" spc="-65" dirty="0">
                <a:latin typeface="Times New Roman"/>
                <a:cs typeface="Times New Roman"/>
              </a:rPr>
              <a:t> </a:t>
            </a:r>
            <a:r>
              <a:rPr sz="1200" b="1" spc="-20" dirty="0">
                <a:latin typeface="Times New Roman"/>
                <a:cs typeface="Times New Roman"/>
              </a:rPr>
              <a:t>Grade</a:t>
            </a:r>
            <a:endParaRPr sz="1200" dirty="0">
              <a:latin typeface="Times New Roman"/>
              <a:cs typeface="Times New Roman"/>
            </a:endParaRPr>
          </a:p>
          <a:p>
            <a:pPr marL="12700">
              <a:lnSpc>
                <a:spcPct val="100000"/>
              </a:lnSpc>
              <a:spcBef>
                <a:spcPts val="359"/>
              </a:spcBef>
            </a:pPr>
            <a:r>
              <a:rPr sz="1200" b="1" dirty="0">
                <a:latin typeface="Times New Roman"/>
                <a:cs typeface="Times New Roman"/>
              </a:rPr>
              <a:t>Approved</a:t>
            </a:r>
            <a:r>
              <a:rPr sz="1200" b="1" spc="-10" dirty="0">
                <a:latin typeface="Times New Roman"/>
                <a:cs typeface="Times New Roman"/>
              </a:rPr>
              <a:t> </a:t>
            </a:r>
            <a:r>
              <a:rPr sz="1200" b="1" dirty="0">
                <a:latin typeface="Times New Roman"/>
                <a:cs typeface="Times New Roman"/>
              </a:rPr>
              <a:t>by</a:t>
            </a:r>
            <a:r>
              <a:rPr sz="1200" b="1" spc="-65" dirty="0">
                <a:latin typeface="Times New Roman"/>
                <a:cs typeface="Times New Roman"/>
              </a:rPr>
              <a:t> </a:t>
            </a:r>
            <a:r>
              <a:rPr sz="1200" b="1" dirty="0">
                <a:latin typeface="Times New Roman"/>
                <a:cs typeface="Times New Roman"/>
              </a:rPr>
              <a:t>AICTE,</a:t>
            </a:r>
            <a:r>
              <a:rPr sz="1200" b="1" spc="15" dirty="0">
                <a:latin typeface="Times New Roman"/>
                <a:cs typeface="Times New Roman"/>
              </a:rPr>
              <a:t> </a:t>
            </a:r>
            <a:r>
              <a:rPr sz="1200" b="1" dirty="0">
                <a:latin typeface="Times New Roman"/>
                <a:cs typeface="Times New Roman"/>
              </a:rPr>
              <a:t>New</a:t>
            </a:r>
            <a:r>
              <a:rPr sz="1200" b="1" spc="-25" dirty="0">
                <a:latin typeface="Times New Roman"/>
                <a:cs typeface="Times New Roman"/>
              </a:rPr>
              <a:t> </a:t>
            </a:r>
            <a:r>
              <a:rPr sz="1200" b="1" dirty="0">
                <a:latin typeface="Times New Roman"/>
                <a:cs typeface="Times New Roman"/>
              </a:rPr>
              <a:t>Delhi</a:t>
            </a:r>
            <a:r>
              <a:rPr sz="1200" b="1" spc="-10" dirty="0">
                <a:latin typeface="Times New Roman"/>
                <a:cs typeface="Times New Roman"/>
              </a:rPr>
              <a:t> </a:t>
            </a:r>
            <a:r>
              <a:rPr sz="1200" b="1" dirty="0">
                <a:latin typeface="Times New Roman"/>
                <a:cs typeface="Times New Roman"/>
              </a:rPr>
              <a:t>and</a:t>
            </a:r>
            <a:r>
              <a:rPr sz="1200" b="1" spc="-70" dirty="0">
                <a:latin typeface="Times New Roman"/>
                <a:cs typeface="Times New Roman"/>
              </a:rPr>
              <a:t> </a:t>
            </a:r>
            <a:r>
              <a:rPr sz="1200" b="1" dirty="0">
                <a:latin typeface="Times New Roman"/>
                <a:cs typeface="Times New Roman"/>
              </a:rPr>
              <a:t>Affiliated</a:t>
            </a:r>
            <a:r>
              <a:rPr sz="1200" b="1" spc="-60" dirty="0">
                <a:latin typeface="Times New Roman"/>
                <a:cs typeface="Times New Roman"/>
              </a:rPr>
              <a:t> </a:t>
            </a:r>
            <a:r>
              <a:rPr sz="1200" b="1" dirty="0">
                <a:latin typeface="Times New Roman"/>
                <a:cs typeface="Times New Roman"/>
              </a:rPr>
              <a:t>to</a:t>
            </a:r>
            <a:r>
              <a:rPr sz="1200" b="1" spc="-20" dirty="0">
                <a:latin typeface="Times New Roman"/>
                <a:cs typeface="Times New Roman"/>
              </a:rPr>
              <a:t> </a:t>
            </a:r>
            <a:r>
              <a:rPr sz="1200" b="1" dirty="0">
                <a:latin typeface="Times New Roman"/>
                <a:cs typeface="Times New Roman"/>
              </a:rPr>
              <a:t>JNTU, </a:t>
            </a:r>
            <a:r>
              <a:rPr sz="1200" b="1" spc="-10" dirty="0">
                <a:latin typeface="Times New Roman"/>
                <a:cs typeface="Times New Roman"/>
              </a:rPr>
              <a:t>Hyderabad</a:t>
            </a:r>
            <a:endParaRPr sz="1200" dirty="0">
              <a:latin typeface="Times New Roman"/>
              <a:cs typeface="Times New Roman"/>
            </a:endParaRPr>
          </a:p>
          <a:p>
            <a:pPr marL="141605" algn="ctr">
              <a:lnSpc>
                <a:spcPct val="100000"/>
              </a:lnSpc>
              <a:spcBef>
                <a:spcPts val="1060"/>
              </a:spcBef>
            </a:pPr>
            <a:r>
              <a:rPr sz="1950" b="1" dirty="0">
                <a:solidFill>
                  <a:srgbClr val="31833D"/>
                </a:solidFill>
                <a:latin typeface="Times New Roman"/>
                <a:cs typeface="Times New Roman"/>
              </a:rPr>
              <a:t>Department</a:t>
            </a:r>
            <a:r>
              <a:rPr sz="1950" b="1" spc="85" dirty="0">
                <a:solidFill>
                  <a:srgbClr val="31833D"/>
                </a:solidFill>
                <a:latin typeface="Times New Roman"/>
                <a:cs typeface="Times New Roman"/>
              </a:rPr>
              <a:t> </a:t>
            </a:r>
            <a:r>
              <a:rPr sz="1950" b="1" dirty="0">
                <a:solidFill>
                  <a:srgbClr val="31833D"/>
                </a:solidFill>
                <a:latin typeface="Times New Roman"/>
                <a:cs typeface="Times New Roman"/>
              </a:rPr>
              <a:t>of</a:t>
            </a:r>
            <a:r>
              <a:rPr sz="1950" b="1" spc="65" dirty="0">
                <a:solidFill>
                  <a:srgbClr val="31833D"/>
                </a:solidFill>
                <a:latin typeface="Times New Roman"/>
                <a:cs typeface="Times New Roman"/>
              </a:rPr>
              <a:t> </a:t>
            </a:r>
            <a:r>
              <a:rPr lang="en-IN" sz="1950" b="1" spc="65" dirty="0">
                <a:solidFill>
                  <a:srgbClr val="31833D"/>
                </a:solidFill>
                <a:latin typeface="Times New Roman"/>
                <a:cs typeface="Times New Roman"/>
              </a:rPr>
              <a:t>computer science and engineering</a:t>
            </a:r>
            <a:endParaRPr sz="1950" dirty="0">
              <a:latin typeface="Times New Roman"/>
              <a:cs typeface="Times New Roman"/>
            </a:endParaRPr>
          </a:p>
          <a:p>
            <a:pPr marL="140970" algn="ctr">
              <a:lnSpc>
                <a:spcPct val="100000"/>
              </a:lnSpc>
              <a:spcBef>
                <a:spcPts val="20"/>
              </a:spcBef>
            </a:pPr>
            <a:r>
              <a:rPr sz="1650" b="1" spc="-10">
                <a:solidFill>
                  <a:srgbClr val="31833D"/>
                </a:solidFill>
                <a:latin typeface="Times New Roman"/>
                <a:cs typeface="Times New Roman"/>
              </a:rPr>
              <a:t>Review</a:t>
            </a:r>
            <a:r>
              <a:rPr lang="en-US" sz="1650" b="1" spc="-10" dirty="0">
                <a:solidFill>
                  <a:srgbClr val="31833D"/>
                </a:solidFill>
                <a:latin typeface="Times New Roman"/>
                <a:cs typeface="Times New Roman"/>
              </a:rPr>
              <a:t>-II</a:t>
            </a:r>
            <a:endParaRPr lang="en-US" sz="1650" spc="-10" dirty="0">
              <a:latin typeface="Times New Roman"/>
              <a:cs typeface="Times New Roman"/>
            </a:endParaRPr>
          </a:p>
          <a:p>
            <a:pPr marL="140970" algn="ctr">
              <a:lnSpc>
                <a:spcPct val="100000"/>
              </a:lnSpc>
              <a:spcBef>
                <a:spcPts val="20"/>
              </a:spcBef>
            </a:pPr>
            <a:r>
              <a:rPr lang="en-US" sz="1650" b="1" dirty="0">
                <a:solidFill>
                  <a:srgbClr val="31833D"/>
                </a:solidFill>
                <a:latin typeface="Times New Roman"/>
                <a:cs typeface="Times New Roman"/>
              </a:rPr>
              <a:t>Real Time Research Project</a:t>
            </a:r>
          </a:p>
          <a:p>
            <a:pPr marL="1539240" marR="1388745" algn="ctr">
              <a:lnSpc>
                <a:spcPct val="100000"/>
              </a:lnSpc>
            </a:pPr>
            <a:r>
              <a:rPr sz="1650" b="1" spc="-25" dirty="0">
                <a:solidFill>
                  <a:srgbClr val="31833D"/>
                </a:solidFill>
                <a:latin typeface="Times New Roman"/>
                <a:cs typeface="Times New Roman"/>
              </a:rPr>
              <a:t>on</a:t>
            </a:r>
            <a:endParaRPr sz="1650" dirty="0">
              <a:latin typeface="Times New Roman"/>
              <a:cs typeface="Times New Roman"/>
            </a:endParaRPr>
          </a:p>
        </p:txBody>
      </p:sp>
      <p:pic>
        <p:nvPicPr>
          <p:cNvPr id="9" name="object 105">
            <a:extLst>
              <a:ext uri="{FF2B5EF4-FFF2-40B4-BE49-F238E27FC236}">
                <a16:creationId xmlns:a16="http://schemas.microsoft.com/office/drawing/2014/main" id="{B7383552-246B-9002-78F9-924C65B8F3E5}"/>
              </a:ext>
            </a:extLst>
          </p:cNvPr>
          <p:cNvPicPr/>
          <p:nvPr/>
        </p:nvPicPr>
        <p:blipFill>
          <a:blip r:embed="rId3" cstate="print"/>
          <a:stretch>
            <a:fillRect/>
          </a:stretch>
        </p:blipFill>
        <p:spPr>
          <a:xfrm>
            <a:off x="9051198" y="567927"/>
            <a:ext cx="1608094" cy="1186727"/>
          </a:xfrm>
          <a:prstGeom prst="rect">
            <a:avLst/>
          </a:prstGeom>
        </p:spPr>
      </p:pic>
      <p:sp>
        <p:nvSpPr>
          <p:cNvPr id="10" name="Rectangle 9">
            <a:extLst>
              <a:ext uri="{FF2B5EF4-FFF2-40B4-BE49-F238E27FC236}">
                <a16:creationId xmlns:a16="http://schemas.microsoft.com/office/drawing/2014/main" id="{0C67833B-0A30-EAA1-7C90-EF0188FC8373}"/>
              </a:ext>
            </a:extLst>
          </p:cNvPr>
          <p:cNvSpPr/>
          <p:nvPr/>
        </p:nvSpPr>
        <p:spPr>
          <a:xfrm>
            <a:off x="3381695" y="4530709"/>
            <a:ext cx="6287238" cy="856645"/>
          </a:xfrm>
          <a:prstGeom prst="rect">
            <a:avLst/>
          </a:prstGeom>
        </p:spPr>
        <p:txBody>
          <a:bodyPr wrap="square">
            <a:spAutoFit/>
          </a:bodyPr>
          <a:lstStyle/>
          <a:p>
            <a:pPr marL="12700" marR="3744595" algn="ctr">
              <a:lnSpc>
                <a:spcPct val="100000"/>
              </a:lnSpc>
              <a:spcBef>
                <a:spcPts val="105"/>
              </a:spcBef>
            </a:pPr>
            <a:r>
              <a:rPr lang="en-US" sz="1600" b="1" dirty="0">
                <a:latin typeface="Times New Roman"/>
                <a:cs typeface="Times New Roman"/>
              </a:rPr>
              <a:t>Under</a:t>
            </a:r>
            <a:r>
              <a:rPr lang="en-US" sz="1600" b="1" spc="-70" dirty="0">
                <a:latin typeface="Times New Roman"/>
                <a:cs typeface="Times New Roman"/>
              </a:rPr>
              <a:t> </a:t>
            </a:r>
            <a:r>
              <a:rPr lang="en-US" sz="1600" b="1" dirty="0">
                <a:latin typeface="Times New Roman"/>
                <a:cs typeface="Times New Roman"/>
              </a:rPr>
              <a:t>the</a:t>
            </a:r>
            <a:r>
              <a:rPr lang="en-US" sz="1600" b="1" spc="-50" dirty="0">
                <a:latin typeface="Times New Roman"/>
                <a:cs typeface="Times New Roman"/>
              </a:rPr>
              <a:t> </a:t>
            </a:r>
            <a:r>
              <a:rPr lang="en-US" sz="1600" b="1" dirty="0">
                <a:latin typeface="Times New Roman"/>
                <a:cs typeface="Times New Roman"/>
              </a:rPr>
              <a:t>Guidence</a:t>
            </a:r>
            <a:r>
              <a:rPr lang="en-US" sz="1600" b="1" spc="-65" dirty="0">
                <a:latin typeface="Times New Roman"/>
                <a:cs typeface="Times New Roman"/>
              </a:rPr>
              <a:t> </a:t>
            </a:r>
            <a:r>
              <a:rPr lang="en-US" sz="1600" b="1" spc="-25" dirty="0">
                <a:latin typeface="Times New Roman"/>
                <a:cs typeface="Times New Roman"/>
              </a:rPr>
              <a:t>of </a:t>
            </a:r>
            <a:endParaRPr lang="en-US" sz="1600" b="1" spc="-10" dirty="0">
              <a:latin typeface="Times New Roman"/>
              <a:cs typeface="Times New Roman"/>
            </a:endParaRPr>
          </a:p>
          <a:p>
            <a:pPr marL="12700" marR="3744595" algn="ctr">
              <a:lnSpc>
                <a:spcPct val="100000"/>
              </a:lnSpc>
              <a:spcBef>
                <a:spcPts val="105"/>
              </a:spcBef>
            </a:pPr>
            <a:r>
              <a:rPr lang="en-US" sz="1600" b="1" spc="-10" dirty="0">
                <a:latin typeface="Times New Roman"/>
                <a:cs typeface="Times New Roman"/>
              </a:rPr>
              <a:t>A.KIRAN KUMAR</a:t>
            </a:r>
          </a:p>
          <a:p>
            <a:pPr marL="12700" marR="3744595" algn="ctr">
              <a:lnSpc>
                <a:spcPct val="100000"/>
              </a:lnSpc>
              <a:spcBef>
                <a:spcPts val="105"/>
              </a:spcBef>
            </a:pPr>
            <a:r>
              <a:rPr lang="en-US" sz="1600" b="1" spc="-10" dirty="0">
                <a:latin typeface="Times New Roman"/>
                <a:cs typeface="Times New Roman"/>
              </a:rPr>
              <a:t> </a:t>
            </a:r>
            <a:r>
              <a:rPr lang="en-US" sz="1600" b="1" dirty="0">
                <a:latin typeface="Times New Roman"/>
                <a:cs typeface="Times New Roman"/>
              </a:rPr>
              <a:t>(Assistant</a:t>
            </a:r>
            <a:r>
              <a:rPr lang="en-US" sz="1600" b="1" spc="-45" dirty="0">
                <a:latin typeface="Times New Roman"/>
                <a:cs typeface="Times New Roman"/>
              </a:rPr>
              <a:t> </a:t>
            </a:r>
            <a:r>
              <a:rPr lang="en-US" sz="1600" b="1" spc="-10" dirty="0">
                <a:latin typeface="Times New Roman"/>
                <a:cs typeface="Times New Roman"/>
              </a:rPr>
              <a:t>Professor)</a:t>
            </a:r>
            <a:endParaRPr lang="en-US" sz="1600" dirty="0">
              <a:latin typeface="Times New Roman"/>
              <a:cs typeface="Times New Roman"/>
            </a:endParaRPr>
          </a:p>
        </p:txBody>
      </p:sp>
      <p:sp>
        <p:nvSpPr>
          <p:cNvPr id="12" name="TextBox 11">
            <a:extLst>
              <a:ext uri="{FF2B5EF4-FFF2-40B4-BE49-F238E27FC236}">
                <a16:creationId xmlns:a16="http://schemas.microsoft.com/office/drawing/2014/main" id="{3AE44036-DD6A-57A3-34D0-070EC110807D}"/>
              </a:ext>
            </a:extLst>
          </p:cNvPr>
          <p:cNvSpPr txBox="1"/>
          <p:nvPr/>
        </p:nvSpPr>
        <p:spPr>
          <a:xfrm>
            <a:off x="1341072" y="3825536"/>
            <a:ext cx="7027333" cy="646331"/>
          </a:xfrm>
          <a:prstGeom prst="rect">
            <a:avLst/>
          </a:prstGeom>
          <a:noFill/>
        </p:spPr>
        <p:txBody>
          <a:bodyPr wrap="square" rtlCol="0">
            <a:spAutoFit/>
          </a:bodyPr>
          <a:lstStyle/>
          <a:p>
            <a:pPr algn="ctr"/>
            <a:r>
              <a:rPr lang="en-US" b="1" dirty="0"/>
              <a:t>AUTOMATIC IRRIGATION SOIL MOISTURE CONTENT CONTROL</a:t>
            </a:r>
            <a:endParaRPr lang="en-IN"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654" y="-48076"/>
            <a:ext cx="2467243" cy="772748"/>
          </a:xfrm>
        </p:spPr>
        <p:txBody>
          <a:bodyPr>
            <a:normAutofit/>
          </a:bodyPr>
          <a:lstStyle/>
          <a:p>
            <a:pPr algn="ctr"/>
            <a:r>
              <a:rPr lang="en-US" sz="2600" b="1" dirty="0">
                <a:latin typeface="Times New Roman" panose="02020603050405020304" pitchFamily="18" charset="0"/>
                <a:cs typeface="Times New Roman" panose="02020603050405020304" pitchFamily="18" charset="0"/>
              </a:rPr>
              <a:t>ABSTRACT</a:t>
            </a:r>
            <a:endParaRPr sz="2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33136" y="724672"/>
            <a:ext cx="8219975" cy="3742820"/>
          </a:xfrm>
        </p:spPr>
        <p:txBody>
          <a:bodyPr>
            <a:noAutofit/>
          </a:bodyPr>
          <a:lstStyle/>
          <a:p>
            <a:pPr marL="0" indent="0" algn="just">
              <a:lnSpc>
                <a:spcPct val="150000"/>
              </a:lnSpc>
              <a:buNone/>
            </a:pPr>
            <a:r>
              <a:rPr lang="en-US" sz="2400" dirty="0">
                <a:latin typeface="Times New Roman" pitchFamily="18" charset="0"/>
                <a:ea typeface="Calibri" panose="020F0502020204030204" pitchFamily="34" charset="0"/>
                <a:cs typeface="Times New Roman" pitchFamily="18" charset="0"/>
              </a:rPr>
              <a:t>This project presents an automatic irrigation system based on soil moisture content. It uses a soil moisture sensor to measure the water level in the soil. A microcontroller like Arduino Uno is used to control the system. The sensor continuously monitors the soil condition. When the soil becomes dry, it sends a signal to the controller. The controller then turns ON the water pump automatically. When the soil reaches the required moisture level, the pump is turned OFF. This process happens without human involvement.. The system reduces water wastage. It also reduces manual effort of farmers. The project is simple, cost-effective, and efficient. It is suitable for agriculture and gardening.</a:t>
            </a:r>
            <a:endParaRPr sz="2400" dirty="0">
              <a:latin typeface="Times New Roman" pitchFamily="18" charset="0"/>
              <a:ea typeface="Calibri" panose="020F0502020204030204" pitchFamily="34"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0579" y="96381"/>
            <a:ext cx="5160092" cy="890790"/>
          </a:xfrm>
        </p:spPr>
        <p:txBody>
          <a:bodyPr>
            <a:normAutofit/>
          </a:bodyPr>
          <a:lstStyle/>
          <a:p>
            <a:r>
              <a:rPr sz="2600" b="1">
                <a:latin typeface="Times New Roman" pitchFamily="18" charset="0"/>
                <a:cs typeface="Times New Roman" pitchFamily="18" charset="0"/>
              </a:rPr>
              <a:t>E</a:t>
            </a:r>
            <a:r>
              <a:rPr lang="en-US" sz="2600" b="1" dirty="0">
                <a:latin typeface="Times New Roman" pitchFamily="18" charset="0"/>
                <a:cs typeface="Times New Roman" pitchFamily="18" charset="0"/>
              </a:rPr>
              <a:t>XISTING SYSTEM</a:t>
            </a:r>
            <a:br>
              <a:rPr lang="en-US" sz="2800" b="1" dirty="0">
                <a:latin typeface="Times New Roman" pitchFamily="18" charset="0"/>
                <a:cs typeface="Times New Roman" pitchFamily="18" charset="0"/>
              </a:rPr>
            </a:br>
            <a:endParaRPr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17634" y="529389"/>
            <a:ext cx="8335478" cy="3699346"/>
          </a:xfrm>
        </p:spPr>
        <p:txBody>
          <a:bodyPr>
            <a:noAutofit/>
          </a:bodyPr>
          <a:lstStyle/>
          <a:p>
            <a:pPr marL="0" indent="0" algn="just">
              <a:lnSpc>
                <a:spcPct val="170000"/>
              </a:lnSpc>
              <a:buNone/>
            </a:pPr>
            <a:r>
              <a:rPr lang="en-US" sz="2400" dirty="0">
                <a:latin typeface="Times New Roman" pitchFamily="18" charset="0"/>
                <a:ea typeface="Calibri" panose="020F0502020204030204" pitchFamily="34" charset="0"/>
                <a:cs typeface="Times New Roman" pitchFamily="18" charset="0"/>
              </a:rPr>
              <a:t>In the existing irrigation system, watering is done manually by farmers. Farmers decide when to irrigate based on their experience. This method is not always accurate. Sometimes crops receive excess water. Sometimes they do not get enough water. This affects plant growth and yield. Manual irrigation requires more time and labor. It is difficult to manage in large agricultural fields. Water wastage is very common in this method. There is no proper monitoring of soil moisture. Farmers need to be present to operate the motor. This increases dependency on human effort. Hence, a better automatic system is required</a:t>
            </a:r>
            <a:r>
              <a:rPr lang="en-US" sz="2400" dirty="0">
                <a:latin typeface="Calibri" panose="020F0502020204030204" pitchFamily="34" charset="0"/>
                <a:ea typeface="Calibri" panose="020F0502020204030204" pitchFamily="34" charset="0"/>
                <a:cs typeface="Calibri" panose="020F0502020204030204" pitchFamily="34" charset="0"/>
              </a:rPr>
              <a:t>.</a:t>
            </a:r>
            <a:endParaRPr sz="24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6443" y="473282"/>
            <a:ext cx="3255092" cy="696758"/>
          </a:xfrm>
        </p:spPr>
        <p:txBody>
          <a:bodyPr>
            <a:normAutofit fontScale="90000"/>
          </a:bodyPr>
          <a:lstStyle/>
          <a:p>
            <a:r>
              <a:rPr lang="en-US" sz="2900" b="1" dirty="0">
                <a:latin typeface="Times New Roman" panose="02020603050405020304" pitchFamily="18" charset="0"/>
                <a:cs typeface="Times New Roman" panose="02020603050405020304" pitchFamily="18" charset="0"/>
              </a:rPr>
              <a:t>DISADVANTAGES</a:t>
            </a:r>
            <a:br>
              <a:rPr lang="en-US" sz="2800" b="1" dirty="0">
                <a:latin typeface="Times New Roman" panose="02020603050405020304" pitchFamily="18" charset="0"/>
                <a:cs typeface="Times New Roman" panose="02020603050405020304" pitchFamily="18" charset="0"/>
              </a:rPr>
            </a:br>
            <a:endParaRPr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18939" y="1550322"/>
            <a:ext cx="5634498" cy="2815201"/>
          </a:xfrm>
        </p:spPr>
        <p:txBody>
          <a:bodyPr>
            <a:normAutofit/>
          </a:bodyPr>
          <a:lstStyle/>
          <a:p>
            <a:pPr algn="just">
              <a:lnSpc>
                <a:spcPct val="150000"/>
              </a:lnSpc>
            </a:pPr>
            <a:r>
              <a:rPr sz="2000" dirty="0"/>
              <a:t> </a:t>
            </a:r>
            <a:r>
              <a:rPr sz="2400" dirty="0">
                <a:latin typeface="Times New Roman" pitchFamily="18" charset="0"/>
                <a:cs typeface="Times New Roman" pitchFamily="18" charset="0"/>
              </a:rPr>
              <a:t>Water wastage</a:t>
            </a:r>
          </a:p>
          <a:p>
            <a:pPr algn="just">
              <a:lnSpc>
                <a:spcPct val="150000"/>
              </a:lnSpc>
            </a:pPr>
            <a:r>
              <a:rPr sz="2400" dirty="0">
                <a:latin typeface="Times New Roman" pitchFamily="18" charset="0"/>
                <a:cs typeface="Times New Roman" pitchFamily="18" charset="0"/>
              </a:rPr>
              <a:t>Over-irrigation and under-irrigation</a:t>
            </a:r>
          </a:p>
          <a:p>
            <a:pPr algn="just">
              <a:lnSpc>
                <a:spcPct val="150000"/>
              </a:lnSpc>
            </a:pPr>
            <a:r>
              <a:rPr sz="2400" dirty="0">
                <a:latin typeface="Times New Roman" pitchFamily="18" charset="0"/>
                <a:cs typeface="Times New Roman" pitchFamily="18" charset="0"/>
              </a:rPr>
              <a:t>High labor requirement</a:t>
            </a:r>
          </a:p>
          <a:p>
            <a:pPr algn="just">
              <a:lnSpc>
                <a:spcPct val="150000"/>
              </a:lnSpc>
            </a:pPr>
            <a:r>
              <a:rPr sz="2400" dirty="0">
                <a:latin typeface="Times New Roman" pitchFamily="18" charset="0"/>
                <a:cs typeface="Times New Roman" pitchFamily="18" charset="0"/>
              </a:rPr>
              <a:t>Inefficient water management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3824" y="365127"/>
            <a:ext cx="3717208" cy="676274"/>
          </a:xfrm>
        </p:spPr>
        <p:txBody>
          <a:bodyPr>
            <a:normAutofit/>
          </a:bodyPr>
          <a:lstStyle/>
          <a:p>
            <a:r>
              <a:rPr lang="en-US" sz="2600" b="1" dirty="0">
                <a:latin typeface="Times New Roman" panose="02020603050405020304" pitchFamily="18" charset="0"/>
                <a:cs typeface="Times New Roman" panose="02020603050405020304" pitchFamily="18" charset="0"/>
              </a:rPr>
              <a:t>PROPOSED SYSTEM</a:t>
            </a:r>
            <a:endParaRPr sz="2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35858" y="1166018"/>
            <a:ext cx="8229600" cy="4525963"/>
          </a:xfrm>
        </p:spPr>
        <p:txBody>
          <a:bodyPr>
            <a:noAutofit/>
          </a:bodyPr>
          <a:lstStyle/>
          <a:p>
            <a:pPr marL="0" indent="0" algn="just">
              <a:lnSpc>
                <a:spcPct val="150000"/>
              </a:lnSpc>
              <a:buNone/>
            </a:pPr>
            <a:r>
              <a:rPr lang="en-US" sz="2400" dirty="0">
                <a:latin typeface="Times New Roman" pitchFamily="18" charset="0"/>
                <a:ea typeface="Calibri" panose="020F0502020204030204" pitchFamily="34" charset="0"/>
                <a:cs typeface="Times New Roman" pitchFamily="18" charset="0"/>
              </a:rPr>
              <a:t>The proposed system is a smart automatic irrigation system that uses soil moisture sensors to monitor the moisture level of the soil in real time. A microcontroller, such as Arduino, processes the sensor data and controls the irrigation process accordingly. When the soil moisture falls below a predefined threshold, the system automatically switches on the water pump to irrigate the field, and once the required moisture level is reached, it turns the pump off. This ensures that crops receive the right amount of water at the right time without manual intervention.</a:t>
            </a:r>
            <a:endParaRPr sz="20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1411" y="365127"/>
            <a:ext cx="2822473" cy="922900"/>
          </a:xfrm>
        </p:spPr>
        <p:txBody>
          <a:bodyPr>
            <a:normAutofit/>
          </a:bodyPr>
          <a:lstStyle/>
          <a:p>
            <a:r>
              <a:rPr lang="en-US" sz="2800" b="1" dirty="0">
                <a:latin typeface="Times New Roman" panose="02020603050405020304" pitchFamily="18" charset="0"/>
                <a:cs typeface="Times New Roman" panose="02020603050405020304" pitchFamily="18" charset="0"/>
              </a:rPr>
              <a:t>ADVANTAGES</a:t>
            </a:r>
            <a:endParaRPr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652757" y="1713297"/>
            <a:ext cx="4700434" cy="3247820"/>
          </a:xfrm>
        </p:spPr>
        <p:txBody>
          <a:bodyPr>
            <a:normAutofit/>
          </a:bodyPr>
          <a:lstStyle/>
          <a:p>
            <a:pPr>
              <a:lnSpc>
                <a:spcPct val="150000"/>
              </a:lnSpc>
            </a:pPr>
            <a:r>
              <a:rPr sz="2400" dirty="0">
                <a:latin typeface="Times New Roman" pitchFamily="18" charset="0"/>
                <a:ea typeface="Calibri" panose="020F0502020204030204" pitchFamily="34" charset="0"/>
                <a:cs typeface="Times New Roman" pitchFamily="18" charset="0"/>
              </a:rPr>
              <a:t> Saves water</a:t>
            </a:r>
          </a:p>
          <a:p>
            <a:pPr>
              <a:lnSpc>
                <a:spcPct val="150000"/>
              </a:lnSpc>
            </a:pPr>
            <a:r>
              <a:rPr sz="2400" dirty="0">
                <a:latin typeface="Times New Roman" pitchFamily="18" charset="0"/>
                <a:ea typeface="Calibri" panose="020F0502020204030204" pitchFamily="34" charset="0"/>
                <a:cs typeface="Times New Roman" pitchFamily="18" charset="0"/>
              </a:rPr>
              <a:t> Reduces human effort</a:t>
            </a:r>
          </a:p>
          <a:p>
            <a:pPr>
              <a:lnSpc>
                <a:spcPct val="150000"/>
              </a:lnSpc>
            </a:pPr>
            <a:r>
              <a:rPr sz="2400" dirty="0">
                <a:latin typeface="Times New Roman" pitchFamily="18" charset="0"/>
                <a:ea typeface="Calibri" panose="020F0502020204030204" pitchFamily="34" charset="0"/>
                <a:cs typeface="Times New Roman" pitchFamily="18" charset="0"/>
              </a:rPr>
              <a:t> Improves crop yield</a:t>
            </a:r>
          </a:p>
          <a:p>
            <a:pPr>
              <a:lnSpc>
                <a:spcPct val="150000"/>
              </a:lnSpc>
            </a:pPr>
            <a:r>
              <a:rPr sz="2400" dirty="0">
                <a:latin typeface="Times New Roman" pitchFamily="18" charset="0"/>
                <a:ea typeface="Calibri" panose="020F0502020204030204" pitchFamily="34" charset="0"/>
                <a:cs typeface="Times New Roman" pitchFamily="18" charset="0"/>
              </a:rPr>
              <a:t> Efficient irrigation management</a:t>
            </a:r>
          </a:p>
          <a:p>
            <a:pPr>
              <a:lnSpc>
                <a:spcPct val="150000"/>
              </a:lnSpc>
            </a:pPr>
            <a:r>
              <a:rPr sz="2400" dirty="0">
                <a:latin typeface="Times New Roman" pitchFamily="18" charset="0"/>
                <a:ea typeface="Calibri" panose="020F0502020204030204" pitchFamily="34" charset="0"/>
                <a:cs typeface="Times New Roman" pitchFamily="18" charset="0"/>
              </a:rPr>
              <a:t> Suitable for smart agriculture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6227" y="1025628"/>
            <a:ext cx="5123221" cy="972061"/>
          </a:xfrm>
        </p:spPr>
        <p:txBody>
          <a:bodyPr>
            <a:normAutofit/>
          </a:bodyPr>
          <a:lstStyle/>
          <a:p>
            <a:r>
              <a:rPr lang="en-US" sz="2400" b="1" dirty="0">
                <a:latin typeface="Times New Roman" panose="02020603050405020304" pitchFamily="18" charset="0"/>
                <a:cs typeface="Times New Roman" panose="02020603050405020304" pitchFamily="18" charset="0"/>
              </a:rPr>
              <a:t>HARDWARE REQUIREMETS</a:t>
            </a:r>
            <a:endParaRPr sz="2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441197" y="1970701"/>
            <a:ext cx="4261606" cy="3375640"/>
          </a:xfrm>
        </p:spPr>
        <p:txBody>
          <a:bodyPr>
            <a:noAutofit/>
          </a:bodyPr>
          <a:lstStyle/>
          <a:p>
            <a:pPr>
              <a:lnSpc>
                <a:spcPct val="150000"/>
              </a:lnSpc>
            </a:pPr>
            <a:r>
              <a:rPr sz="2200" dirty="0">
                <a:latin typeface="Times New Roman" pitchFamily="18" charset="0"/>
                <a:cs typeface="Times New Roman" pitchFamily="18" charset="0"/>
              </a:rPr>
              <a:t> </a:t>
            </a:r>
            <a:r>
              <a:rPr sz="2200" dirty="0">
                <a:latin typeface="Times New Roman" pitchFamily="18" charset="0"/>
                <a:ea typeface="Calibri" panose="020F0502020204030204" pitchFamily="34" charset="0"/>
                <a:cs typeface="Times New Roman" pitchFamily="18" charset="0"/>
              </a:rPr>
              <a:t>Soil Moisture Sensor</a:t>
            </a:r>
          </a:p>
          <a:p>
            <a:pPr>
              <a:lnSpc>
                <a:spcPct val="150000"/>
              </a:lnSpc>
            </a:pPr>
            <a:r>
              <a:rPr sz="2200" dirty="0">
                <a:latin typeface="Times New Roman" pitchFamily="18" charset="0"/>
                <a:ea typeface="Calibri" panose="020F0502020204030204" pitchFamily="34" charset="0"/>
                <a:cs typeface="Times New Roman" pitchFamily="18" charset="0"/>
              </a:rPr>
              <a:t> Arduino / Microcontroller</a:t>
            </a:r>
          </a:p>
          <a:p>
            <a:pPr>
              <a:lnSpc>
                <a:spcPct val="150000"/>
              </a:lnSpc>
            </a:pPr>
            <a:r>
              <a:rPr sz="2200" dirty="0">
                <a:latin typeface="Times New Roman" pitchFamily="18" charset="0"/>
                <a:ea typeface="Calibri" panose="020F0502020204030204" pitchFamily="34" charset="0"/>
                <a:cs typeface="Times New Roman" pitchFamily="18" charset="0"/>
              </a:rPr>
              <a:t> Relay Module</a:t>
            </a:r>
          </a:p>
          <a:p>
            <a:pPr>
              <a:lnSpc>
                <a:spcPct val="150000"/>
              </a:lnSpc>
            </a:pPr>
            <a:r>
              <a:rPr sz="2200" dirty="0">
                <a:latin typeface="Times New Roman" pitchFamily="18" charset="0"/>
                <a:ea typeface="Calibri" panose="020F0502020204030204" pitchFamily="34" charset="0"/>
                <a:cs typeface="Times New Roman" pitchFamily="18" charset="0"/>
              </a:rPr>
              <a:t> Water Pump</a:t>
            </a:r>
          </a:p>
          <a:p>
            <a:pPr>
              <a:lnSpc>
                <a:spcPct val="150000"/>
              </a:lnSpc>
            </a:pPr>
            <a:r>
              <a:rPr sz="2200" dirty="0">
                <a:latin typeface="Times New Roman" pitchFamily="18" charset="0"/>
                <a:ea typeface="Calibri" panose="020F0502020204030204" pitchFamily="34" charset="0"/>
                <a:cs typeface="Times New Roman" pitchFamily="18" charset="0"/>
              </a:rPr>
              <a:t> Power Supply</a:t>
            </a:r>
          </a:p>
          <a:p>
            <a:pPr>
              <a:lnSpc>
                <a:spcPct val="150000"/>
              </a:lnSpc>
            </a:pPr>
            <a:r>
              <a:rPr sz="2200" dirty="0">
                <a:latin typeface="Times New Roman" pitchFamily="18" charset="0"/>
                <a:ea typeface="Calibri" panose="020F0502020204030204" pitchFamily="34" charset="0"/>
                <a:cs typeface="Times New Roman" pitchFamily="18" charset="0"/>
              </a:rPr>
              <a:t> Connecting Wires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E647C4A-A6B8-7C08-B97B-C3C5AC02A3A3}"/>
              </a:ext>
            </a:extLst>
          </p:cNvPr>
          <p:cNvSpPr txBox="1"/>
          <p:nvPr/>
        </p:nvSpPr>
        <p:spPr>
          <a:xfrm>
            <a:off x="1912375" y="1378663"/>
            <a:ext cx="6100916" cy="3231654"/>
          </a:xfrm>
          <a:prstGeom prst="rect">
            <a:avLst/>
          </a:prstGeom>
          <a:noFill/>
        </p:spPr>
        <p:txBody>
          <a:bodyPr wrap="square">
            <a:spAutoFit/>
          </a:bodyPr>
          <a:lstStyle/>
          <a:p>
            <a:pPr algn="ctr">
              <a:lnSpc>
                <a:spcPct val="150000"/>
              </a:lnSpc>
            </a:pPr>
            <a:r>
              <a:rPr lang="en-US" sz="2400" b="1" dirty="0">
                <a:latin typeface="Times New Roman" panose="02020603050405020304" pitchFamily="18" charset="0"/>
                <a:cs typeface="Times New Roman" panose="02020603050405020304" pitchFamily="18" charset="0"/>
              </a:rPr>
              <a:t>SOFTWARE REQUIREMENTS:</a:t>
            </a:r>
          </a:p>
          <a:p>
            <a:pPr>
              <a:lnSpc>
                <a:spcPct val="150000"/>
              </a:lnSpc>
              <a:buFont typeface="Arial" pitchFamily="34" charset="0"/>
              <a:buChar char="•"/>
            </a:pPr>
            <a:r>
              <a:rPr lang="en-US" sz="2400" dirty="0">
                <a:latin typeface="Times New Roman" pitchFamily="18" charset="0"/>
                <a:cs typeface="Times New Roman" pitchFamily="18" charset="0"/>
              </a:rPr>
              <a:t> </a:t>
            </a:r>
            <a:r>
              <a:rPr lang="en-US" sz="2400" dirty="0">
                <a:latin typeface="Times New Roman" pitchFamily="18" charset="0"/>
                <a:ea typeface="Calibri" panose="020F0502020204030204" pitchFamily="34" charset="0"/>
                <a:cs typeface="Times New Roman" pitchFamily="18" charset="0"/>
              </a:rPr>
              <a:t>Arduino IDE</a:t>
            </a:r>
          </a:p>
          <a:p>
            <a:pPr>
              <a:lnSpc>
                <a:spcPct val="150000"/>
              </a:lnSpc>
              <a:buFont typeface="Arial" pitchFamily="34" charset="0"/>
              <a:buChar char="•"/>
            </a:pPr>
            <a:r>
              <a:rPr lang="en-US" sz="2400" dirty="0">
                <a:latin typeface="Times New Roman" pitchFamily="18" charset="0"/>
                <a:ea typeface="Calibri" panose="020F0502020204030204" pitchFamily="34" charset="0"/>
                <a:cs typeface="Times New Roman" pitchFamily="18" charset="0"/>
              </a:rPr>
              <a:t> Embedded C / Arduino Programming</a:t>
            </a:r>
          </a:p>
          <a:p>
            <a:pPr>
              <a:lnSpc>
                <a:spcPct val="150000"/>
              </a:lnSpc>
              <a:buFont typeface="Arial" pitchFamily="34" charset="0"/>
              <a:buChar char="•"/>
            </a:pPr>
            <a:r>
              <a:rPr lang="en-US" sz="2400" dirty="0">
                <a:latin typeface="Times New Roman" pitchFamily="18" charset="0"/>
                <a:ea typeface="Calibri" panose="020F0502020204030204" pitchFamily="34" charset="0"/>
                <a:cs typeface="Times New Roman" pitchFamily="18" charset="0"/>
              </a:rPr>
              <a:t> IoT Platform (Optional)</a:t>
            </a:r>
          </a:p>
          <a:p>
            <a:pPr>
              <a:lnSpc>
                <a:spcPct val="150000"/>
              </a:lnSpc>
              <a:buFont typeface="Arial" pitchFamily="34" charset="0"/>
              <a:buChar char="•"/>
            </a:pPr>
            <a:r>
              <a:rPr lang="en-US" sz="2400" dirty="0">
                <a:latin typeface="Times New Roman" pitchFamily="18" charset="0"/>
                <a:ea typeface="Calibri" panose="020F0502020204030204" pitchFamily="34" charset="0"/>
                <a:cs typeface="Times New Roman" pitchFamily="18" charset="0"/>
              </a:rPr>
              <a:t> Mobile App </a:t>
            </a:r>
          </a:p>
          <a:p>
            <a:endParaRPr lang="en-US" sz="2400" dirty="0"/>
          </a:p>
        </p:txBody>
      </p:sp>
    </p:spTree>
    <p:extLst>
      <p:ext uri="{BB962C8B-B14F-4D97-AF65-F5344CB8AC3E}">
        <p14:creationId xmlns:p14="http://schemas.microsoft.com/office/powerpoint/2010/main" val="340480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9694" y="860988"/>
            <a:ext cx="5319866" cy="834409"/>
          </a:xfrm>
        </p:spPr>
        <p:txBody>
          <a:bodyPr>
            <a:normAutofit/>
          </a:bodyPr>
          <a:lstStyle/>
          <a:p>
            <a:r>
              <a:rPr lang="en-US" sz="2600" b="1" dirty="0">
                <a:latin typeface="Times New Roman" panose="02020603050405020304" pitchFamily="18" charset="0"/>
                <a:cs typeface="Times New Roman" panose="02020603050405020304" pitchFamily="18" charset="0"/>
              </a:rPr>
              <a:t>NOVELITY OF THE PROJECT</a:t>
            </a:r>
            <a:endParaRPr sz="2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727012" y="1886552"/>
            <a:ext cx="5319866" cy="1920465"/>
          </a:xfrm>
        </p:spPr>
        <p:txBody>
          <a:bodyPr>
            <a:noAutofit/>
          </a:bodyPr>
          <a:lstStyle/>
          <a:p>
            <a:pPr>
              <a:lnSpc>
                <a:spcPct val="150000"/>
              </a:lnSpc>
            </a:pPr>
            <a:r>
              <a:rPr sz="2400" dirty="0">
                <a:latin typeface="Times New Roman" pitchFamily="18" charset="0"/>
                <a:cs typeface="Times New Roman" pitchFamily="18" charset="0"/>
              </a:rPr>
              <a:t> </a:t>
            </a:r>
            <a:r>
              <a:rPr sz="2400" dirty="0">
                <a:latin typeface="Times New Roman" pitchFamily="18" charset="0"/>
                <a:ea typeface="Calibri" panose="020F0502020204030204" pitchFamily="34" charset="0"/>
                <a:cs typeface="Times New Roman" pitchFamily="18" charset="0"/>
              </a:rPr>
              <a:t>Real-time soil moisture monitoring</a:t>
            </a:r>
          </a:p>
          <a:p>
            <a:pPr>
              <a:lnSpc>
                <a:spcPct val="150000"/>
              </a:lnSpc>
            </a:pPr>
            <a:r>
              <a:rPr sz="2400" dirty="0">
                <a:latin typeface="Times New Roman" pitchFamily="18" charset="0"/>
                <a:ea typeface="Calibri" panose="020F0502020204030204" pitchFamily="34" charset="0"/>
                <a:cs typeface="Times New Roman" pitchFamily="18" charset="0"/>
              </a:rPr>
              <a:t> Automatic irrigation control</a:t>
            </a:r>
          </a:p>
          <a:p>
            <a:pPr>
              <a:lnSpc>
                <a:spcPct val="150000"/>
              </a:lnSpc>
            </a:pPr>
            <a:r>
              <a:rPr sz="2400" dirty="0">
                <a:latin typeface="Times New Roman" pitchFamily="18" charset="0"/>
                <a:ea typeface="Calibri" panose="020F0502020204030204" pitchFamily="34" charset="0"/>
                <a:cs typeface="Times New Roman" pitchFamily="18" charset="0"/>
              </a:rPr>
              <a:t> Water conservation</a:t>
            </a:r>
          </a:p>
          <a:p>
            <a:pPr>
              <a:lnSpc>
                <a:spcPct val="150000"/>
              </a:lnSpc>
            </a:pPr>
            <a:r>
              <a:rPr sz="2400" dirty="0">
                <a:latin typeface="Times New Roman" pitchFamily="18" charset="0"/>
                <a:ea typeface="Calibri" panose="020F0502020204030204" pitchFamily="34" charset="0"/>
                <a:cs typeface="Times New Roman" pitchFamily="18" charset="0"/>
              </a:rPr>
              <a:t> Smart farming support using IoT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05074" y="175875"/>
            <a:ext cx="3333852" cy="964565"/>
          </a:xfrm>
        </p:spPr>
        <p:txBody>
          <a:bodyPr>
            <a:normAutofit/>
          </a:bodyPr>
          <a:lstStyle/>
          <a:p>
            <a:r>
              <a:rPr lang="en-US" sz="2800" b="1" dirty="0">
                <a:latin typeface="Times New Roman" panose="02020603050405020304" pitchFamily="18" charset="0"/>
                <a:cs typeface="Times New Roman" panose="02020603050405020304" pitchFamily="18" charset="0"/>
              </a:rPr>
              <a:t>ARCHITECTURE</a:t>
            </a:r>
            <a:endParaRPr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4295" y="1235567"/>
            <a:ext cx="8229600" cy="964565"/>
          </a:xfrm>
        </p:spPr>
        <p:txBody>
          <a:bodyPr>
            <a:normAutofit/>
          </a:bodyPr>
          <a:lstStyle/>
          <a:p>
            <a:pPr marL="0" indent="0" algn="just">
              <a:lnSpc>
                <a:spcPct val="150000"/>
              </a:lnSpc>
              <a:buNone/>
            </a:pPr>
            <a:r>
              <a:rPr lang="en-US" sz="2000" dirty="0"/>
              <a:t>            </a:t>
            </a:r>
            <a:r>
              <a:rPr sz="2000" b="1" dirty="0"/>
              <a:t>Sensor → Microcontroller → Relay → Water Pump → Irrigation</a:t>
            </a:r>
            <a:r>
              <a:rPr b="1" dirty="0"/>
              <a:t> </a:t>
            </a:r>
            <a:r>
              <a:rPr sz="1800" b="1" dirty="0"/>
              <a:t>Field</a:t>
            </a:r>
          </a:p>
          <a:p>
            <a:pPr marL="0" indent="0">
              <a:buNone/>
            </a:pPr>
            <a:endParaRPr sz="1800" dirty="0"/>
          </a:p>
        </p:txBody>
      </p:sp>
      <p:pic>
        <p:nvPicPr>
          <p:cNvPr id="4" name="Picture 3" descr="WhatsApp Image 2026-03-13 at 9.57.46 PM (1)"/>
          <p:cNvPicPr>
            <a:picLocks noChangeAspect="1"/>
          </p:cNvPicPr>
          <p:nvPr/>
        </p:nvPicPr>
        <p:blipFill>
          <a:blip r:embed="rId2"/>
          <a:stretch>
            <a:fillRect/>
          </a:stretch>
        </p:blipFill>
        <p:spPr>
          <a:xfrm>
            <a:off x="1139825" y="2007870"/>
            <a:ext cx="6955155" cy="446913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3200" y="365127"/>
            <a:ext cx="2114550" cy="991726"/>
          </a:xfrm>
        </p:spPr>
        <p:txBody>
          <a:bodyPr>
            <a:normAutofit/>
          </a:bodyPr>
          <a:lstStyle/>
          <a:p>
            <a:r>
              <a:rPr lang="en-US" sz="2800" b="1" dirty="0">
                <a:latin typeface="Times New Roman" panose="02020603050405020304" pitchFamily="18" charset="0"/>
                <a:cs typeface="Times New Roman" panose="02020603050405020304" pitchFamily="18" charset="0"/>
              </a:rPr>
              <a:t>MODULES</a:t>
            </a:r>
            <a:endParaRPr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57300" y="1739000"/>
            <a:ext cx="7886700" cy="4351338"/>
          </a:xfrm>
        </p:spPr>
        <p:txBody>
          <a:bodyPr>
            <a:normAutofit/>
          </a:bodyPr>
          <a:lstStyle/>
          <a:p>
            <a:pPr>
              <a:lnSpc>
                <a:spcPct val="150000"/>
              </a:lnSpc>
            </a:pPr>
            <a:r>
              <a:rPr sz="2400" dirty="0">
                <a:latin typeface="Times New Roman" pitchFamily="18" charset="0"/>
                <a:ea typeface="Calibri" panose="020F0502020204030204" pitchFamily="34" charset="0"/>
                <a:cs typeface="Times New Roman" pitchFamily="18" charset="0"/>
              </a:rPr>
              <a:t>Soil Moisture Detection Module</a:t>
            </a:r>
          </a:p>
          <a:p>
            <a:pPr>
              <a:lnSpc>
                <a:spcPct val="150000"/>
              </a:lnSpc>
            </a:pPr>
            <a:r>
              <a:rPr sz="2400" dirty="0">
                <a:latin typeface="Times New Roman" pitchFamily="18" charset="0"/>
                <a:ea typeface="Calibri" panose="020F0502020204030204" pitchFamily="34" charset="0"/>
                <a:cs typeface="Times New Roman" pitchFamily="18" charset="0"/>
              </a:rPr>
              <a:t> Microcontroller Processing Module</a:t>
            </a:r>
          </a:p>
          <a:p>
            <a:pPr>
              <a:lnSpc>
                <a:spcPct val="150000"/>
              </a:lnSpc>
            </a:pPr>
            <a:r>
              <a:rPr sz="2400" dirty="0">
                <a:latin typeface="Times New Roman" pitchFamily="18" charset="0"/>
                <a:ea typeface="Calibri" panose="020F0502020204030204" pitchFamily="34" charset="0"/>
                <a:cs typeface="Times New Roman" pitchFamily="18" charset="0"/>
              </a:rPr>
              <a:t> Pump Control Module</a:t>
            </a:r>
          </a:p>
          <a:p>
            <a:pPr>
              <a:lnSpc>
                <a:spcPct val="150000"/>
              </a:lnSpc>
            </a:pPr>
            <a:r>
              <a:rPr sz="2400" dirty="0">
                <a:latin typeface="Times New Roman" pitchFamily="18" charset="0"/>
                <a:ea typeface="Calibri" panose="020F0502020204030204" pitchFamily="34" charset="0"/>
                <a:cs typeface="Times New Roman" pitchFamily="18" charset="0"/>
              </a:rPr>
              <a:t> IoT Monitoring Module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5597" y="19665"/>
            <a:ext cx="5200610" cy="1121792"/>
          </a:xfrm>
        </p:spPr>
        <p:txBody>
          <a:bodyPr>
            <a:normAutofit/>
          </a:bodyPr>
          <a:lstStyle/>
          <a:p>
            <a:r>
              <a:rPr sz="2600" b="1" dirty="0">
                <a:latin typeface="Times New Roman" pitchFamily="18" charset="0"/>
                <a:cs typeface="Times New Roman" pitchFamily="18" charset="0"/>
              </a:rPr>
              <a:t>UML - Use Case Diagram</a:t>
            </a:r>
          </a:p>
        </p:txBody>
      </p:sp>
      <p:sp>
        <p:nvSpPr>
          <p:cNvPr id="3" name="Content Placeholder 2"/>
          <p:cNvSpPr>
            <a:spLocks noGrp="1"/>
          </p:cNvSpPr>
          <p:nvPr>
            <p:ph idx="1"/>
          </p:nvPr>
        </p:nvSpPr>
        <p:spPr>
          <a:xfrm>
            <a:off x="115504" y="895149"/>
            <a:ext cx="9028496" cy="1299411"/>
          </a:xfrm>
        </p:spPr>
        <p:txBody>
          <a:bodyPr>
            <a:noAutofit/>
          </a:bodyPr>
          <a:lstStyle/>
          <a:p>
            <a:pPr marL="0" indent="0">
              <a:lnSpc>
                <a:spcPct val="150000"/>
              </a:lnSpc>
              <a:buNone/>
            </a:pPr>
            <a:r>
              <a:rPr sz="2400" b="1" dirty="0">
                <a:latin typeface="Times New Roman" pitchFamily="18" charset="0"/>
                <a:cs typeface="Times New Roman" pitchFamily="18" charset="0"/>
              </a:rPr>
              <a:t>Actors</a:t>
            </a:r>
            <a:r>
              <a:rPr sz="2400" dirty="0">
                <a:latin typeface="Times New Roman" pitchFamily="18" charset="0"/>
                <a:cs typeface="Times New Roman" pitchFamily="18" charset="0"/>
              </a:rPr>
              <a:t>: Farmer</a:t>
            </a:r>
          </a:p>
          <a:p>
            <a:pPr marL="0" indent="0">
              <a:lnSpc>
                <a:spcPct val="150000"/>
              </a:lnSpc>
              <a:buNone/>
            </a:pPr>
            <a:r>
              <a:rPr sz="2400" b="1" dirty="0">
                <a:latin typeface="Times New Roman" pitchFamily="18" charset="0"/>
                <a:cs typeface="Times New Roman" pitchFamily="18" charset="0"/>
              </a:rPr>
              <a:t>Functions</a:t>
            </a:r>
            <a:r>
              <a:rPr sz="2400" dirty="0">
                <a:latin typeface="Times New Roman" pitchFamily="18" charset="0"/>
                <a:cs typeface="Times New Roman" pitchFamily="18" charset="0"/>
              </a:rPr>
              <a:t>: Monitor soil moisture, Control irrigation pump, View status</a:t>
            </a:r>
          </a:p>
        </p:txBody>
      </p:sp>
      <p:pic>
        <p:nvPicPr>
          <p:cNvPr id="5" name="Picture 4" descr="use.jpeg"/>
          <p:cNvPicPr>
            <a:picLocks noChangeAspect="1"/>
          </p:cNvPicPr>
          <p:nvPr/>
        </p:nvPicPr>
        <p:blipFill>
          <a:blip r:embed="rId2"/>
          <a:stretch>
            <a:fillRect/>
          </a:stretch>
        </p:blipFill>
        <p:spPr>
          <a:xfrm>
            <a:off x="1376387" y="2550695"/>
            <a:ext cx="5740191" cy="282093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82972" y="233874"/>
            <a:ext cx="4178056" cy="924232"/>
          </a:xfrm>
        </p:spPr>
        <p:txBody>
          <a:bodyPr/>
          <a:lstStyle/>
          <a:p>
            <a:r>
              <a:rPr b="1" dirty="0">
                <a:latin typeface="Times New Roman" panose="02020603050405020304" pitchFamily="18" charset="0"/>
                <a:cs typeface="Times New Roman" panose="02020603050405020304" pitchFamily="18" charset="0"/>
              </a:rPr>
              <a:t>UML - Class Diagram</a:t>
            </a:r>
          </a:p>
        </p:txBody>
      </p:sp>
      <p:sp>
        <p:nvSpPr>
          <p:cNvPr id="3" name="Content Placeholder 2"/>
          <p:cNvSpPr>
            <a:spLocks noGrp="1"/>
          </p:cNvSpPr>
          <p:nvPr>
            <p:ph idx="1"/>
          </p:nvPr>
        </p:nvSpPr>
        <p:spPr>
          <a:xfrm>
            <a:off x="1023208" y="1158106"/>
            <a:ext cx="7429499" cy="808346"/>
          </a:xfrm>
        </p:spPr>
        <p:txBody>
          <a:bodyPr>
            <a:normAutofit/>
          </a:bodyPr>
          <a:lstStyle/>
          <a:p>
            <a:pPr marL="0" indent="0">
              <a:lnSpc>
                <a:spcPct val="150000"/>
              </a:lnSpc>
              <a:buNone/>
            </a:pPr>
            <a:r>
              <a:rPr sz="2000" dirty="0">
                <a:latin typeface="Calibri" panose="020F0502020204030204" pitchFamily="34" charset="0"/>
                <a:ea typeface="Calibri" panose="020F0502020204030204" pitchFamily="34" charset="0"/>
                <a:cs typeface="Calibri" panose="020F0502020204030204" pitchFamily="34" charset="0"/>
              </a:rPr>
              <a:t>Classes: Sensor, Microcontroller, Pump, Farmer, Irrigation</a:t>
            </a:r>
            <a:r>
              <a:rPr lang="en-IN" sz="2000" dirty="0">
                <a:latin typeface="Calibri" panose="020F0502020204030204" pitchFamily="34" charset="0"/>
                <a:ea typeface="Calibri" panose="020F0502020204030204" pitchFamily="34" charset="0"/>
                <a:cs typeface="Calibri" panose="020F0502020204030204" pitchFamily="34" charset="0"/>
              </a:rPr>
              <a:t> </a:t>
            </a:r>
            <a:r>
              <a:rPr sz="2000" dirty="0">
                <a:latin typeface="Calibri" panose="020F0502020204030204" pitchFamily="34" charset="0"/>
                <a:ea typeface="Calibri" panose="020F0502020204030204" pitchFamily="34" charset="0"/>
                <a:cs typeface="Calibri" panose="020F0502020204030204" pitchFamily="34" charset="0"/>
              </a:rPr>
              <a:t>System</a:t>
            </a:r>
          </a:p>
        </p:txBody>
      </p:sp>
      <p:pic>
        <p:nvPicPr>
          <p:cNvPr id="5" name="Picture 4" descr="class.jpeg"/>
          <p:cNvPicPr>
            <a:picLocks noChangeAspect="1"/>
          </p:cNvPicPr>
          <p:nvPr/>
        </p:nvPicPr>
        <p:blipFill>
          <a:blip r:embed="rId2"/>
          <a:stretch>
            <a:fillRect/>
          </a:stretch>
        </p:blipFill>
        <p:spPr>
          <a:xfrm>
            <a:off x="1873250" y="2197099"/>
            <a:ext cx="5397500" cy="337592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7104" y="410674"/>
            <a:ext cx="6174005" cy="832346"/>
          </a:xfrm>
        </p:spPr>
        <p:txBody>
          <a:bodyPr/>
          <a:lstStyle/>
          <a:p>
            <a:r>
              <a:rPr b="1" dirty="0"/>
              <a:t>UML - Sequence Diagram</a:t>
            </a:r>
          </a:p>
        </p:txBody>
      </p:sp>
      <p:sp>
        <p:nvSpPr>
          <p:cNvPr id="3" name="Content Placeholder 2"/>
          <p:cNvSpPr>
            <a:spLocks noGrp="1"/>
          </p:cNvSpPr>
          <p:nvPr>
            <p:ph idx="1"/>
          </p:nvPr>
        </p:nvSpPr>
        <p:spPr>
          <a:xfrm>
            <a:off x="381635" y="1198169"/>
            <a:ext cx="8229600" cy="1573530"/>
          </a:xfrm>
        </p:spPr>
        <p:txBody>
          <a:bodyPr>
            <a:normAutofit/>
          </a:bodyPr>
          <a:lstStyle/>
          <a:p>
            <a:pPr marL="0" indent="0">
              <a:lnSpc>
                <a:spcPct val="150000"/>
              </a:lnSpc>
              <a:buNone/>
            </a:pPr>
            <a:r>
              <a:rPr sz="2000" dirty="0">
                <a:latin typeface="Calibri" panose="020F0502020204030204" pitchFamily="34" charset="0"/>
                <a:ea typeface="Calibri" panose="020F0502020204030204" pitchFamily="34" charset="0"/>
                <a:cs typeface="Calibri" panose="020F0502020204030204" pitchFamily="34" charset="0"/>
              </a:rPr>
              <a:t>Sequence:</a:t>
            </a:r>
            <a:r>
              <a:rPr lang="en-US" sz="2000" dirty="0">
                <a:latin typeface="Calibri" panose="020F0502020204030204" pitchFamily="34" charset="0"/>
                <a:ea typeface="Calibri" panose="020F0502020204030204" pitchFamily="34" charset="0"/>
                <a:cs typeface="Calibri" panose="020F0502020204030204" pitchFamily="34" charset="0"/>
              </a:rPr>
              <a:t>-</a:t>
            </a:r>
          </a:p>
          <a:p>
            <a:pPr marL="0" indent="0">
              <a:lnSpc>
                <a:spcPct val="150000"/>
              </a:lnSpc>
              <a:buNone/>
            </a:pPr>
            <a:r>
              <a:rPr sz="2000" dirty="0">
                <a:latin typeface="Calibri" panose="020F0502020204030204" pitchFamily="34" charset="0"/>
                <a:ea typeface="Calibri" panose="020F0502020204030204" pitchFamily="34" charset="0"/>
                <a:cs typeface="Calibri" panose="020F0502020204030204" pitchFamily="34" charset="0"/>
              </a:rPr>
              <a:t>Sensor reads soil → Microcontroller processes → Pump ON/OFF → Farmer monitors</a:t>
            </a:r>
          </a:p>
        </p:txBody>
      </p:sp>
      <p:pic>
        <p:nvPicPr>
          <p:cNvPr id="5" name="Picture 4" descr="sequence.jpeg"/>
          <p:cNvPicPr>
            <a:picLocks noChangeAspect="1"/>
          </p:cNvPicPr>
          <p:nvPr/>
        </p:nvPicPr>
        <p:blipFill>
          <a:blip r:embed="rId2"/>
          <a:stretch>
            <a:fillRect/>
          </a:stretch>
        </p:blipFill>
        <p:spPr>
          <a:xfrm>
            <a:off x="1828800" y="2771699"/>
            <a:ext cx="5486400" cy="346168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7881" y="-12487"/>
            <a:ext cx="4364869" cy="1131143"/>
          </a:xfrm>
        </p:spPr>
        <p:txBody>
          <a:bodyPr>
            <a:normAutofit/>
          </a:bodyPr>
          <a:lstStyle/>
          <a:p>
            <a:r>
              <a:rPr sz="2800" b="1" dirty="0">
                <a:latin typeface="Times New Roman" panose="02020603050405020304" pitchFamily="18" charset="0"/>
                <a:ea typeface="Calibri" panose="020F0502020204030204" pitchFamily="34" charset="0"/>
                <a:cs typeface="Times New Roman" panose="02020603050405020304" pitchFamily="18" charset="0"/>
              </a:rPr>
              <a:t>UML - Activity Diagram</a:t>
            </a:r>
          </a:p>
        </p:txBody>
      </p:sp>
      <p:sp>
        <p:nvSpPr>
          <p:cNvPr id="3" name="Content Placeholder 2"/>
          <p:cNvSpPr>
            <a:spLocks noGrp="1"/>
          </p:cNvSpPr>
          <p:nvPr>
            <p:ph idx="1"/>
          </p:nvPr>
        </p:nvSpPr>
        <p:spPr>
          <a:xfrm>
            <a:off x="457200" y="1081067"/>
            <a:ext cx="8229600" cy="836224"/>
          </a:xfrm>
        </p:spPr>
        <p:txBody>
          <a:bodyPr>
            <a:normAutofit/>
          </a:bodyPr>
          <a:lstStyle/>
          <a:p>
            <a:pPr marL="0" indent="0">
              <a:buNone/>
            </a:pPr>
            <a:r>
              <a:rPr sz="2000" dirty="0">
                <a:latin typeface="Calibri" panose="020F0502020204030204" pitchFamily="34" charset="0"/>
                <a:ea typeface="Calibri" panose="020F0502020204030204" pitchFamily="34" charset="0"/>
                <a:cs typeface="Calibri" panose="020F0502020204030204" pitchFamily="34" charset="0"/>
              </a:rPr>
              <a:t>Start → Read Soil Moisture → Moisture Low? → YES: Turn Pump ON → NO: Pump OFF → Repeat</a:t>
            </a:r>
          </a:p>
        </p:txBody>
      </p:sp>
      <p:pic>
        <p:nvPicPr>
          <p:cNvPr id="5" name="Picture 4" descr="activity.jpeg"/>
          <p:cNvPicPr>
            <a:picLocks noChangeAspect="1"/>
          </p:cNvPicPr>
          <p:nvPr/>
        </p:nvPicPr>
        <p:blipFill>
          <a:blip r:embed="rId2"/>
          <a:stretch>
            <a:fillRect/>
          </a:stretch>
        </p:blipFill>
        <p:spPr>
          <a:xfrm>
            <a:off x="2911474" y="1879599"/>
            <a:ext cx="3851275" cy="440569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396" y="0"/>
            <a:ext cx="7886700" cy="827773"/>
          </a:xfrm>
        </p:spPr>
        <p:txBody>
          <a:bodyPr>
            <a:normAutofit/>
          </a:bodyPr>
          <a:lstStyle/>
          <a:p>
            <a:r>
              <a:rPr lang="en-US" sz="2600" b="1" dirty="0">
                <a:latin typeface="Times New Roman" pitchFamily="18" charset="0"/>
                <a:cs typeface="Times New Roman" pitchFamily="18" charset="0"/>
              </a:rPr>
              <a:t>Source code:</a:t>
            </a:r>
          </a:p>
        </p:txBody>
      </p:sp>
      <p:sp>
        <p:nvSpPr>
          <p:cNvPr id="3" name="Content Placeholder 2"/>
          <p:cNvSpPr>
            <a:spLocks noGrp="1"/>
          </p:cNvSpPr>
          <p:nvPr>
            <p:ph idx="1"/>
          </p:nvPr>
        </p:nvSpPr>
        <p:spPr/>
        <p:txBody>
          <a:bodyPr>
            <a:normAutofit/>
          </a:bodyPr>
          <a:lstStyle/>
          <a:p>
            <a:pPr>
              <a:buNone/>
            </a:pPr>
            <a:endParaRPr lang="en-US" dirty="0"/>
          </a:p>
          <a:p>
            <a:endParaRPr lang="en-US" dirty="0"/>
          </a:p>
        </p:txBody>
      </p:sp>
      <p:sp>
        <p:nvSpPr>
          <p:cNvPr id="1025" name="Rectangle 1"/>
          <p:cNvSpPr>
            <a:spLocks noChangeArrowheads="1"/>
          </p:cNvSpPr>
          <p:nvPr/>
        </p:nvSpPr>
        <p:spPr bwMode="auto">
          <a:xfrm>
            <a:off x="914400" y="827772"/>
            <a:ext cx="8691612" cy="600164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#include &lt;</a:t>
            </a:r>
            <a:r>
              <a:rPr kumimoji="0" lang="en-US" sz="240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LiquidCrystal.h</a:t>
            </a: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&gt;</a:t>
            </a:r>
            <a:endParaRPr kumimoji="0" lang="en-US" sz="240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#include &lt;</a:t>
            </a:r>
            <a:r>
              <a:rPr kumimoji="0" lang="en-US" sz="240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stdio.h</a:t>
            </a: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&gt;</a:t>
            </a:r>
            <a:endParaRPr kumimoji="0" lang="en-US" sz="240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LiquidCrystal</a:t>
            </a: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kumimoji="0" lang="en-US" sz="240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lcd</a:t>
            </a: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(6, 7, 5, 4, 3, 2);</a:t>
            </a:r>
            <a:endParaRPr kumimoji="0" lang="en-US" sz="240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defines pins numbers</a:t>
            </a:r>
            <a:endParaRPr kumimoji="0" lang="en-US" sz="240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//New GPS GY-GPS6MV2</a:t>
            </a:r>
            <a:endParaRPr kumimoji="0" lang="en-US" sz="240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int</a:t>
            </a: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kumimoji="0" lang="en-US" sz="240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mos</a:t>
            </a: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 8;</a:t>
            </a:r>
            <a:endParaRPr kumimoji="0" lang="en-US" sz="240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int</a:t>
            </a: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pump   = 9;</a:t>
            </a:r>
            <a:endParaRPr kumimoji="0" lang="en-US" sz="240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int</a:t>
            </a: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buzzer = 13;</a:t>
            </a:r>
            <a:endParaRPr kumimoji="0" lang="en-US" sz="240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int</a:t>
            </a: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kumimoji="0" lang="en-US" sz="240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tempc</a:t>
            </a: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=0;</a:t>
            </a:r>
            <a:endParaRPr kumimoji="0" lang="en-US" sz="240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int</a:t>
            </a: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kumimoji="0" lang="en-US" sz="240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hbtc</a:t>
            </a: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=0,hbtc1=0,rtrl=0,rtr2=0;</a:t>
            </a:r>
            <a:endParaRPr kumimoji="0" lang="en-US" sz="240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int</a:t>
            </a: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temps=0,hums=0,alcs=0,eyes=0,buttons=0;</a:t>
            </a:r>
            <a:endParaRPr kumimoji="0" lang="en-US" sz="240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unsigned char </a:t>
            </a:r>
            <a:r>
              <a:rPr kumimoji="0" lang="en-US" sz="240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rcv,count,gchr</a:t>
            </a: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='x',gchr1='</a:t>
            </a:r>
            <a:r>
              <a:rPr kumimoji="0" lang="en-US" sz="240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x',robos</a:t>
            </a: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='s';</a:t>
            </a:r>
            <a:endParaRPr kumimoji="0" lang="en-US" sz="240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char </a:t>
            </a:r>
            <a:r>
              <a:rPr kumimoji="0" lang="en-US" sz="240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rcvmsg</a:t>
            </a: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[10],</a:t>
            </a:r>
            <a:r>
              <a:rPr kumimoji="0" lang="en-US" sz="240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pastnumber</a:t>
            </a: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[11];</a:t>
            </a:r>
            <a:endParaRPr kumimoji="0" lang="en-US" sz="240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char </a:t>
            </a:r>
            <a:r>
              <a:rPr kumimoji="0" lang="en-US" sz="240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gpsval</a:t>
            </a: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[50];</a:t>
            </a:r>
            <a:endParaRPr kumimoji="0" lang="en-US" sz="240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char </a:t>
            </a:r>
            <a:r>
              <a:rPr kumimoji="0" lang="en-US" sz="240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dataread</a:t>
            </a: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[100] = "";</a:t>
            </a:r>
            <a:endParaRPr kumimoji="0" lang="en-US" sz="240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char </a:t>
            </a:r>
            <a:r>
              <a:rPr kumimoji="0" lang="en-US" sz="240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lt</a:t>
            </a: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[15],</a:t>
            </a:r>
            <a:r>
              <a:rPr kumimoji="0" lang="en-US" sz="240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ln</a:t>
            </a:r>
            <a:r>
              <a:rPr kumimoji="0" lang="en-US" sz="240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[15];</a:t>
            </a:r>
            <a:endParaRPr kumimoji="0" lang="en-US" sz="2400" i="0" u="none" strike="noStrike" cap="none" normalizeH="0" baseline="0" dirty="0">
              <a:ln>
                <a:noFill/>
              </a:ln>
              <a:solidFill>
                <a:schemeClr val="tx1"/>
              </a:solidFill>
              <a:effectLst/>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1"/>
          <p:cNvSpPr>
            <a:spLocks noChangeArrowheads="1"/>
          </p:cNvSpPr>
          <p:nvPr/>
        </p:nvSpPr>
        <p:spPr bwMode="auto">
          <a:xfrm>
            <a:off x="702643" y="327259"/>
            <a:ext cx="8226932" cy="627864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int</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i</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=0,k=0,lop=0;</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int</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gps_status</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=0;</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float latitude=0; </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float </a:t>
            </a: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logitude</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=0;                       </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String Speed="";</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String </a:t>
            </a: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gpsString</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char *test="$GPRMC";</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a:t>
            </a: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int</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hbtc</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=0,hbtc1=0,rtrl=0;</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unsigned char </a:t>
            </a: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gv</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=0,msg1[10],msg2[11];</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float </a:t>
            </a: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lati</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=0,longi=0;</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unsigned </a:t>
            </a: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int</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lati1=0,longi1=0;</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unsigned char flat[5],</a:t>
            </a: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flong</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[5];</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unsigned char </a:t>
            </a: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finallat</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[8],</a:t>
            </a: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finallong</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[9];</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int</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ii=0,rchkr=0;</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String </a:t>
            </a: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inputString</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 "";         // a string to hold incoming data</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boolean</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stringComplete</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 false;  // whether the string is complete</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3768" y="317633"/>
            <a:ext cx="8470232" cy="4197333"/>
          </a:xfrm>
        </p:spPr>
        <p:txBody>
          <a:bodyPr>
            <a:normAutofit fontScale="25000" lnSpcReduction="20000"/>
          </a:bodyPr>
          <a:lstStyle/>
          <a:p>
            <a:pPr>
              <a:buNone/>
            </a:pPr>
            <a:r>
              <a:rPr lang="en-US" sz="9600" dirty="0">
                <a:latin typeface="Times New Roman" pitchFamily="18" charset="0"/>
                <a:cs typeface="Times New Roman" pitchFamily="18" charset="0"/>
              </a:rPr>
              <a:t>void </a:t>
            </a:r>
            <a:r>
              <a:rPr lang="en-US" sz="9600" dirty="0" err="1">
                <a:latin typeface="Times New Roman" pitchFamily="18" charset="0"/>
                <a:cs typeface="Times New Roman" pitchFamily="18" charset="0"/>
              </a:rPr>
              <a:t>okcheck</a:t>
            </a:r>
            <a:r>
              <a:rPr lang="en-US" sz="9600" dirty="0">
                <a:latin typeface="Times New Roman" pitchFamily="18" charset="0"/>
                <a:cs typeface="Times New Roman" pitchFamily="18" charset="0"/>
              </a:rPr>
              <a:t>()</a:t>
            </a:r>
          </a:p>
          <a:p>
            <a:pPr>
              <a:buNone/>
            </a:pPr>
            <a:r>
              <a:rPr lang="en-US" sz="9600" dirty="0">
                <a:latin typeface="Times New Roman" pitchFamily="18" charset="0"/>
                <a:cs typeface="Times New Roman" pitchFamily="18" charset="0"/>
              </a:rPr>
              <a:t>{</a:t>
            </a:r>
          </a:p>
          <a:p>
            <a:pPr>
              <a:buNone/>
            </a:pPr>
            <a:r>
              <a:rPr lang="en-US" sz="9600" dirty="0">
                <a:latin typeface="Times New Roman" pitchFamily="18" charset="0"/>
                <a:cs typeface="Times New Roman" pitchFamily="18" charset="0"/>
              </a:rPr>
              <a:t>  unsigned char </a:t>
            </a:r>
            <a:r>
              <a:rPr lang="en-US" sz="9600" dirty="0" err="1">
                <a:latin typeface="Times New Roman" pitchFamily="18" charset="0"/>
                <a:cs typeface="Times New Roman" pitchFamily="18" charset="0"/>
              </a:rPr>
              <a:t>rcr</a:t>
            </a:r>
            <a:r>
              <a:rPr lang="en-US" sz="9600" dirty="0">
                <a:latin typeface="Times New Roman" pitchFamily="18" charset="0"/>
                <a:cs typeface="Times New Roman" pitchFamily="18" charset="0"/>
              </a:rPr>
              <a:t>;</a:t>
            </a:r>
          </a:p>
          <a:p>
            <a:pPr>
              <a:buNone/>
            </a:pPr>
            <a:r>
              <a:rPr lang="en-US" sz="9600" dirty="0">
                <a:latin typeface="Times New Roman" pitchFamily="18" charset="0"/>
                <a:cs typeface="Times New Roman" pitchFamily="18" charset="0"/>
              </a:rPr>
              <a:t>  do{</a:t>
            </a:r>
          </a:p>
          <a:p>
            <a:pPr>
              <a:buNone/>
            </a:pPr>
            <a:r>
              <a:rPr lang="en-US" sz="9600" dirty="0">
                <a:latin typeface="Times New Roman" pitchFamily="18" charset="0"/>
                <a:cs typeface="Times New Roman" pitchFamily="18" charset="0"/>
              </a:rPr>
              <a:t>  </a:t>
            </a:r>
            <a:r>
              <a:rPr lang="en-US" sz="9600" dirty="0" err="1">
                <a:latin typeface="Times New Roman" pitchFamily="18" charset="0"/>
                <a:cs typeface="Times New Roman" pitchFamily="18" charset="0"/>
              </a:rPr>
              <a:t>rcr</a:t>
            </a:r>
            <a:r>
              <a:rPr lang="en-US" sz="9600" dirty="0">
                <a:latin typeface="Times New Roman" pitchFamily="18" charset="0"/>
                <a:cs typeface="Times New Roman" pitchFamily="18" charset="0"/>
              </a:rPr>
              <a:t> = </a:t>
            </a:r>
            <a:r>
              <a:rPr lang="en-US" sz="9600" dirty="0" err="1">
                <a:latin typeface="Times New Roman" pitchFamily="18" charset="0"/>
                <a:cs typeface="Times New Roman" pitchFamily="18" charset="0"/>
              </a:rPr>
              <a:t>Serial.read</a:t>
            </a:r>
            <a:r>
              <a:rPr lang="en-US" sz="9600" dirty="0">
                <a:latin typeface="Times New Roman" pitchFamily="18" charset="0"/>
                <a:cs typeface="Times New Roman" pitchFamily="18" charset="0"/>
              </a:rPr>
              <a:t>();</a:t>
            </a:r>
          </a:p>
          <a:p>
            <a:pPr>
              <a:buNone/>
            </a:pPr>
            <a:r>
              <a:rPr lang="en-US" sz="9600" dirty="0">
                <a:latin typeface="Times New Roman" pitchFamily="18" charset="0"/>
                <a:cs typeface="Times New Roman" pitchFamily="18" charset="0"/>
              </a:rPr>
              <a:t>  }  while(</a:t>
            </a:r>
            <a:r>
              <a:rPr lang="en-US" sz="9600" dirty="0" err="1">
                <a:latin typeface="Times New Roman" pitchFamily="18" charset="0"/>
                <a:cs typeface="Times New Roman" pitchFamily="18" charset="0"/>
              </a:rPr>
              <a:t>rcr</a:t>
            </a:r>
            <a:r>
              <a:rPr lang="en-US" sz="9600" dirty="0">
                <a:latin typeface="Times New Roman" pitchFamily="18" charset="0"/>
                <a:cs typeface="Times New Roman" pitchFamily="18" charset="0"/>
              </a:rPr>
              <a:t> != 'K');</a:t>
            </a:r>
          </a:p>
          <a:p>
            <a:pPr>
              <a:buNone/>
            </a:pPr>
            <a:r>
              <a:rPr lang="en-US" sz="9600" dirty="0">
                <a:latin typeface="Times New Roman" pitchFamily="18" charset="0"/>
                <a:cs typeface="Times New Roman" pitchFamily="18" charset="0"/>
              </a:rPr>
              <a:t>}</a:t>
            </a:r>
          </a:p>
          <a:p>
            <a:pPr>
              <a:buNone/>
            </a:pPr>
            <a:r>
              <a:rPr lang="en-US" sz="9600" dirty="0">
                <a:latin typeface="Times New Roman" pitchFamily="18" charset="0"/>
                <a:cs typeface="Times New Roman" pitchFamily="18" charset="0"/>
              </a:rPr>
              <a:t>  void sound()  {</a:t>
            </a:r>
          </a:p>
          <a:p>
            <a:pPr>
              <a:buNone/>
            </a:pPr>
            <a:r>
              <a:rPr lang="en-US" sz="9600" dirty="0" err="1">
                <a:latin typeface="Times New Roman" pitchFamily="18" charset="0"/>
                <a:cs typeface="Times New Roman" pitchFamily="18" charset="0"/>
              </a:rPr>
              <a:t>digitalWrite</a:t>
            </a:r>
            <a:r>
              <a:rPr lang="en-US" sz="9600" dirty="0">
                <a:latin typeface="Times New Roman" pitchFamily="18" charset="0"/>
                <a:cs typeface="Times New Roman" pitchFamily="18" charset="0"/>
              </a:rPr>
              <a:t>(</a:t>
            </a:r>
            <a:r>
              <a:rPr lang="en-US" sz="9600" dirty="0" err="1">
                <a:latin typeface="Times New Roman" pitchFamily="18" charset="0"/>
                <a:cs typeface="Times New Roman" pitchFamily="18" charset="0"/>
              </a:rPr>
              <a:t>buzzer,LOW</a:t>
            </a:r>
            <a:r>
              <a:rPr lang="en-US" sz="9600" dirty="0">
                <a:latin typeface="Times New Roman" pitchFamily="18" charset="0"/>
                <a:cs typeface="Times New Roman" pitchFamily="18" charset="0"/>
              </a:rPr>
              <a:t>);delay(1500);</a:t>
            </a:r>
            <a:r>
              <a:rPr lang="en-US" sz="9600" dirty="0" err="1">
                <a:latin typeface="Times New Roman" pitchFamily="18" charset="0"/>
                <a:cs typeface="Times New Roman" pitchFamily="18" charset="0"/>
              </a:rPr>
              <a:t>digitalWrite</a:t>
            </a:r>
            <a:r>
              <a:rPr lang="en-US" sz="9600" dirty="0">
                <a:latin typeface="Times New Roman" pitchFamily="18" charset="0"/>
                <a:cs typeface="Times New Roman" pitchFamily="18" charset="0"/>
              </a:rPr>
              <a:t>(</a:t>
            </a:r>
            <a:r>
              <a:rPr lang="en-US" sz="9600" dirty="0" err="1">
                <a:latin typeface="Times New Roman" pitchFamily="18" charset="0"/>
                <a:cs typeface="Times New Roman" pitchFamily="18" charset="0"/>
              </a:rPr>
              <a:t>buzzer,HIGH</a:t>
            </a:r>
            <a:r>
              <a:rPr lang="en-US" sz="9600" dirty="0">
                <a:latin typeface="Times New Roman" pitchFamily="18" charset="0"/>
                <a:cs typeface="Times New Roman" pitchFamily="18" charset="0"/>
              </a:rPr>
              <a:t>);</a:t>
            </a:r>
          </a:p>
          <a:p>
            <a:pPr>
              <a:buNone/>
            </a:pPr>
            <a:r>
              <a:rPr lang="en-US" sz="9600" dirty="0">
                <a:latin typeface="Times New Roman" pitchFamily="18" charset="0"/>
                <a:cs typeface="Times New Roman" pitchFamily="18" charset="0"/>
              </a:rPr>
              <a:t> }</a:t>
            </a:r>
          </a:p>
          <a:p>
            <a:pPr>
              <a:buNone/>
            </a:pPr>
            <a:r>
              <a:rPr lang="en-US" sz="9600" dirty="0">
                <a:latin typeface="Times New Roman" pitchFamily="18" charset="0"/>
                <a:cs typeface="Times New Roman" pitchFamily="18" charset="0"/>
              </a:rPr>
              <a:t>void setup() </a:t>
            </a:r>
          </a:p>
          <a:p>
            <a:pPr>
              <a:buNone/>
            </a:pPr>
            <a:r>
              <a:rPr lang="en-US" sz="9600" dirty="0">
                <a:latin typeface="Times New Roman" pitchFamily="18" charset="0"/>
                <a:cs typeface="Times New Roman" pitchFamily="18" charset="0"/>
              </a:rPr>
              <a:t>{</a:t>
            </a:r>
          </a:p>
          <a:p>
            <a:pPr>
              <a:buNone/>
            </a:pPr>
            <a:r>
              <a:rPr lang="en-US" sz="9600" dirty="0">
                <a:latin typeface="Times New Roman" pitchFamily="18" charset="0"/>
                <a:cs typeface="Times New Roman" pitchFamily="18" charset="0"/>
              </a:rPr>
              <a:t> // unsigned char </a:t>
            </a:r>
            <a:r>
              <a:rPr lang="en-US" sz="9600" dirty="0" err="1">
                <a:latin typeface="Times New Roman" pitchFamily="18" charset="0"/>
                <a:cs typeface="Times New Roman" pitchFamily="18" charset="0"/>
              </a:rPr>
              <a:t>rcr</a:t>
            </a:r>
            <a:r>
              <a:rPr lang="en-US" sz="9600" dirty="0">
                <a:latin typeface="Times New Roman" pitchFamily="18" charset="0"/>
                <a:cs typeface="Times New Roman" pitchFamily="18" charset="0"/>
              </a:rPr>
              <a:t>;</a:t>
            </a:r>
          </a:p>
          <a:p>
            <a:pPr>
              <a:buNone/>
            </a:pPr>
            <a:r>
              <a:rPr lang="en-US" sz="9600" dirty="0">
                <a:latin typeface="Times New Roman" pitchFamily="18" charset="0"/>
                <a:cs typeface="Times New Roman" pitchFamily="18" charset="0"/>
              </a:rPr>
              <a:t> </a:t>
            </a:r>
            <a:r>
              <a:rPr lang="en-US" sz="9600" dirty="0" err="1">
                <a:latin typeface="Times New Roman" pitchFamily="18" charset="0"/>
                <a:cs typeface="Times New Roman" pitchFamily="18" charset="0"/>
              </a:rPr>
              <a:t>Serial.begin</a:t>
            </a:r>
            <a:r>
              <a:rPr lang="en-US" sz="9600" dirty="0">
                <a:latin typeface="Times New Roman" pitchFamily="18" charset="0"/>
                <a:cs typeface="Times New Roman" pitchFamily="18" charset="0"/>
              </a:rPr>
              <a:t>(9600);//</a:t>
            </a:r>
            <a:r>
              <a:rPr lang="en-US" sz="9600" dirty="0" err="1">
                <a:latin typeface="Times New Roman" pitchFamily="18" charset="0"/>
                <a:cs typeface="Times New Roman" pitchFamily="18" charset="0"/>
              </a:rPr>
              <a:t>serialEvent</a:t>
            </a:r>
            <a:r>
              <a:rPr lang="en-US" sz="9600" dirty="0">
                <a:latin typeface="Times New Roman" pitchFamily="18" charset="0"/>
                <a:cs typeface="Times New Roman" pitchFamily="18" charset="0"/>
              </a:rPr>
              <a:t>();</a:t>
            </a:r>
          </a:p>
          <a:p>
            <a:pPr>
              <a:buNone/>
            </a:pPr>
            <a:r>
              <a:rPr lang="en-US" sz="9600" dirty="0">
                <a:latin typeface="Times New Roman" pitchFamily="18" charset="0"/>
                <a:cs typeface="Times New Roman" pitchFamily="18" charset="0"/>
              </a:rPr>
              <a:t> </a:t>
            </a:r>
            <a:r>
              <a:rPr lang="en-US" sz="9600" dirty="0" err="1">
                <a:latin typeface="Times New Roman" pitchFamily="18" charset="0"/>
                <a:cs typeface="Times New Roman" pitchFamily="18" charset="0"/>
              </a:rPr>
              <a:t>pinMode</a:t>
            </a:r>
            <a:r>
              <a:rPr lang="en-US" sz="9600" dirty="0">
                <a:latin typeface="Times New Roman" pitchFamily="18" charset="0"/>
                <a:cs typeface="Times New Roman" pitchFamily="18" charset="0"/>
              </a:rPr>
              <a:t>(</a:t>
            </a:r>
            <a:r>
              <a:rPr lang="en-US" sz="9600" dirty="0" err="1">
                <a:latin typeface="Times New Roman" pitchFamily="18" charset="0"/>
                <a:cs typeface="Times New Roman" pitchFamily="18" charset="0"/>
              </a:rPr>
              <a:t>mos</a:t>
            </a:r>
            <a:r>
              <a:rPr lang="en-US" sz="9600" dirty="0">
                <a:latin typeface="Times New Roman" pitchFamily="18" charset="0"/>
                <a:cs typeface="Times New Roman" pitchFamily="18" charset="0"/>
              </a:rPr>
              <a:t>, INPUT);</a:t>
            </a:r>
            <a:r>
              <a:rPr lang="en-US" sz="9600" dirty="0" err="1">
                <a:latin typeface="Times New Roman" pitchFamily="18" charset="0"/>
                <a:cs typeface="Times New Roman" pitchFamily="18" charset="0"/>
              </a:rPr>
              <a:t>pinMode</a:t>
            </a:r>
            <a:r>
              <a:rPr lang="en-US" sz="9600" dirty="0">
                <a:latin typeface="Times New Roman" pitchFamily="18" charset="0"/>
                <a:cs typeface="Times New Roman" pitchFamily="18" charset="0"/>
              </a:rPr>
              <a:t>(pump, OUTPUT);</a:t>
            </a:r>
          </a:p>
          <a:p>
            <a:pPr>
              <a:buNone/>
            </a:pPr>
            <a:r>
              <a:rPr lang="en-US" sz="9600" dirty="0">
                <a:latin typeface="Times New Roman" pitchFamily="18" charset="0"/>
                <a:cs typeface="Times New Roman" pitchFamily="18" charset="0"/>
              </a:rPr>
              <a:t>  </a:t>
            </a:r>
            <a:r>
              <a:rPr lang="en-US" sz="9600" dirty="0" err="1">
                <a:latin typeface="Times New Roman" pitchFamily="18" charset="0"/>
                <a:cs typeface="Times New Roman" pitchFamily="18" charset="0"/>
              </a:rPr>
              <a:t>pinMode</a:t>
            </a:r>
            <a:r>
              <a:rPr lang="en-US" sz="9600" dirty="0">
                <a:latin typeface="Times New Roman" pitchFamily="18" charset="0"/>
                <a:cs typeface="Times New Roman" pitchFamily="18" charset="0"/>
              </a:rPr>
              <a:t>(buzzer, OUTPUT);  </a:t>
            </a:r>
          </a:p>
          <a:p>
            <a:pPr>
              <a:buNone/>
            </a:pPr>
            <a:r>
              <a:rPr lang="en-US" sz="9600" dirty="0">
                <a:latin typeface="Times New Roman" pitchFamily="18" charset="0"/>
                <a:cs typeface="Times New Roman" pitchFamily="18" charset="0"/>
              </a:rPr>
              <a:t>  </a:t>
            </a:r>
            <a:r>
              <a:rPr lang="en-US" sz="9600" dirty="0" err="1">
                <a:latin typeface="Times New Roman" pitchFamily="18" charset="0"/>
                <a:cs typeface="Times New Roman" pitchFamily="18" charset="0"/>
              </a:rPr>
              <a:t>digitalWrite</a:t>
            </a:r>
            <a:r>
              <a:rPr lang="en-US" sz="9600" dirty="0">
                <a:latin typeface="Times New Roman" pitchFamily="18" charset="0"/>
                <a:cs typeface="Times New Roman" pitchFamily="18" charset="0"/>
              </a:rPr>
              <a:t>(pump, LOW);</a:t>
            </a:r>
            <a:r>
              <a:rPr lang="en-US" sz="9600" dirty="0" err="1">
                <a:latin typeface="Times New Roman" pitchFamily="18" charset="0"/>
                <a:cs typeface="Times New Roman" pitchFamily="18" charset="0"/>
              </a:rPr>
              <a:t>digitalWrite</a:t>
            </a:r>
            <a:r>
              <a:rPr lang="en-US" sz="9600" dirty="0">
                <a:latin typeface="Times New Roman" pitchFamily="18" charset="0"/>
                <a:cs typeface="Times New Roman" pitchFamily="18" charset="0"/>
              </a:rPr>
              <a:t>(buzzer, HIGH);</a:t>
            </a:r>
          </a:p>
          <a:p>
            <a:r>
              <a:rPr lang="en-US" dirty="0"/>
              <a:t> </a:t>
            </a:r>
          </a:p>
          <a:p>
            <a:pPr>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
          <p:cNvSpPr>
            <a:spLocks noChangeArrowheads="1"/>
          </p:cNvSpPr>
          <p:nvPr/>
        </p:nvSpPr>
        <p:spPr bwMode="auto">
          <a:xfrm>
            <a:off x="721895" y="308008"/>
            <a:ext cx="7960092" cy="63709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endParaRPr>
          </a:p>
          <a:p>
            <a:pPr>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lcd.begin</a:t>
            </a:r>
            <a:r>
              <a:rPr lang="en-US" sz="2400" dirty="0">
                <a:latin typeface="Times New Roman" pitchFamily="18" charset="0"/>
                <a:cs typeface="Times New Roman" pitchFamily="18" charset="0"/>
              </a:rPr>
              <a:t>(16, 2);</a:t>
            </a:r>
            <a:r>
              <a:rPr lang="en-US" sz="2400" dirty="0" err="1">
                <a:latin typeface="Times New Roman" pitchFamily="18" charset="0"/>
                <a:cs typeface="Times New Roman" pitchFamily="18" charset="0"/>
              </a:rPr>
              <a:t>lcd.cursor</a:t>
            </a:r>
            <a:r>
              <a:rPr lang="en-US" sz="2400" dirty="0">
                <a:latin typeface="Times New Roman" pitchFamily="18" charset="0"/>
                <a:cs typeface="Times New Roman" pitchFamily="18" charset="0"/>
              </a:rPr>
              <a:t>();</a:t>
            </a:r>
          </a:p>
          <a:p>
            <a:pPr>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lcd.print</a:t>
            </a:r>
            <a:r>
              <a:rPr lang="en-US" sz="2400" dirty="0">
                <a:latin typeface="Times New Roman" pitchFamily="18" charset="0"/>
                <a:cs typeface="Times New Roman" pitchFamily="18" charset="0"/>
              </a:rPr>
              <a:t>("</a:t>
            </a:r>
            <a:r>
              <a:rPr lang="en-US" sz="2400" dirty="0" err="1">
                <a:latin typeface="Times New Roman" pitchFamily="18" charset="0"/>
                <a:cs typeface="Times New Roman" pitchFamily="18" charset="0"/>
              </a:rPr>
              <a:t>Aut</a:t>
            </a:r>
            <a:r>
              <a:rPr lang="en-US" sz="2400" dirty="0">
                <a:latin typeface="Times New Roman" pitchFamily="18" charset="0"/>
                <a:cs typeface="Times New Roman" pitchFamily="18" charset="0"/>
              </a:rPr>
              <a:t> Irrigation");</a:t>
            </a:r>
          </a:p>
          <a:p>
            <a:pPr>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lcd.setCursor</a:t>
            </a:r>
            <a:r>
              <a:rPr lang="en-US" sz="2400" dirty="0">
                <a:latin typeface="Times New Roman" pitchFamily="18" charset="0"/>
                <a:cs typeface="Times New Roman" pitchFamily="18" charset="0"/>
              </a:rPr>
              <a:t>(0,1);</a:t>
            </a:r>
          </a:p>
          <a:p>
            <a:pPr>
              <a:buNone/>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lcd.print</a:t>
            </a:r>
            <a:r>
              <a:rPr lang="en-US" sz="2400" dirty="0">
                <a:latin typeface="Times New Roman" pitchFamily="18" charset="0"/>
                <a:cs typeface="Times New Roman" pitchFamily="18" charset="0"/>
              </a:rPr>
              <a:t>("Soil </a:t>
            </a:r>
            <a:r>
              <a:rPr lang="en-US" sz="2400" dirty="0" err="1">
                <a:latin typeface="Times New Roman" pitchFamily="18" charset="0"/>
                <a:cs typeface="Times New Roman" pitchFamily="18" charset="0"/>
              </a:rPr>
              <a:t>Mos</a:t>
            </a:r>
            <a:r>
              <a:rPr lang="en-US" sz="2400" dirty="0">
                <a:latin typeface="Times New Roman" pitchFamily="18" charset="0"/>
                <a:cs typeface="Times New Roman" pitchFamily="18" charset="0"/>
              </a:rPr>
              <a:t> Ctrl");</a:t>
            </a:r>
          </a:p>
          <a:p>
            <a:pPr>
              <a:buNone/>
            </a:pPr>
            <a:r>
              <a:rPr lang="en-US" sz="2400" dirty="0">
                <a:latin typeface="Times New Roman" pitchFamily="18" charset="0"/>
                <a:cs typeface="Times New Roman" pitchFamily="18" charset="0"/>
              </a:rPr>
              <a:t>    delay(2500);</a:t>
            </a:r>
          </a:p>
          <a:p>
            <a:pPr>
              <a:buNone/>
            </a:pP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lcd.clear</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lcd.setCursor</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(0,0);</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lcd.print</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a:t>
            </a: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Mos</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//4,0</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void loop() </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if(</a:t>
            </a: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digitalRead</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a:t>
            </a: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mos</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 LOW)</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          </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lcd.setCursor</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(4,0);</a:t>
            </a: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lcd.print</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a:t>
            </a: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Wet_Pump_OFF</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kumimoji="0" lang="en-US" sz="2400" b="0" i="0" u="none" strike="noStrike" cap="none" normalizeH="0" baseline="0" dirty="0" err="1">
                <a:ln>
                  <a:noFill/>
                </a:ln>
                <a:solidFill>
                  <a:schemeClr val="tx1"/>
                </a:solidFill>
                <a:effectLst/>
                <a:latin typeface="Times New Roman" pitchFamily="18" charset="0"/>
                <a:ea typeface="Calibri" pitchFamily="34" charset="0"/>
                <a:cs typeface="Times New Roman" pitchFamily="18" charset="0"/>
              </a:rPr>
              <a:t>digitalWrite</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(pump, LOW);</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62526" y="0"/>
            <a:ext cx="6553397" cy="2677656"/>
          </a:xfrm>
          <a:prstGeom prst="rect">
            <a:avLst/>
          </a:prstGeom>
          <a:noFill/>
        </p:spPr>
        <p:txBody>
          <a:bodyPr wrap="none" rtlCol="0">
            <a:spAutoFit/>
          </a:bodyPr>
          <a:lstStyle/>
          <a:p>
            <a:pPr lvl="0" eaLnBrk="0" fontAlgn="base" hangingPunct="0">
              <a:spcBef>
                <a:spcPct val="0"/>
              </a:spcBef>
              <a:spcAft>
                <a:spcPct val="0"/>
              </a:spcAft>
            </a:pPr>
            <a:r>
              <a:rPr lang="en-US" dirty="0">
                <a:latin typeface="Times New Roman" pitchFamily="18" charset="0"/>
                <a:ea typeface="Calibri" pitchFamily="34" charset="0"/>
                <a:cs typeface="Times New Roman" pitchFamily="18" charset="0"/>
              </a:rPr>
              <a:t> </a:t>
            </a:r>
            <a:r>
              <a:rPr lang="en-US" sz="2400" dirty="0">
                <a:latin typeface="Times New Roman" pitchFamily="18" charset="0"/>
                <a:ea typeface="Calibri" pitchFamily="34" charset="0"/>
                <a:cs typeface="Times New Roman" pitchFamily="18" charset="0"/>
              </a:rPr>
              <a:t>if(</a:t>
            </a:r>
            <a:r>
              <a:rPr lang="en-US" sz="2400" dirty="0" err="1">
                <a:latin typeface="Times New Roman" pitchFamily="18" charset="0"/>
                <a:ea typeface="Calibri" pitchFamily="34" charset="0"/>
                <a:cs typeface="Times New Roman" pitchFamily="18" charset="0"/>
              </a:rPr>
              <a:t>digitalRead</a:t>
            </a:r>
            <a:r>
              <a:rPr lang="en-US" sz="2400" dirty="0">
                <a:latin typeface="Times New Roman" pitchFamily="18" charset="0"/>
                <a:ea typeface="Calibri" pitchFamily="34" charset="0"/>
                <a:cs typeface="Times New Roman" pitchFamily="18" charset="0"/>
              </a:rPr>
              <a:t>(</a:t>
            </a:r>
            <a:r>
              <a:rPr lang="en-US" sz="2400" dirty="0" err="1">
                <a:latin typeface="Times New Roman" pitchFamily="18" charset="0"/>
                <a:ea typeface="Calibri" pitchFamily="34" charset="0"/>
                <a:cs typeface="Times New Roman" pitchFamily="18" charset="0"/>
              </a:rPr>
              <a:t>mos</a:t>
            </a:r>
            <a:r>
              <a:rPr lang="en-US" sz="2400" dirty="0">
                <a:latin typeface="Times New Roman" pitchFamily="18" charset="0"/>
                <a:ea typeface="Calibri" pitchFamily="34" charset="0"/>
                <a:cs typeface="Times New Roman" pitchFamily="18" charset="0"/>
              </a:rPr>
              <a:t>) == HIGH)</a:t>
            </a:r>
            <a:endParaRPr lang="en-US" sz="2400" dirty="0">
              <a:latin typeface="Times New Roman" pitchFamily="18" charset="0"/>
              <a:cs typeface="Times New Roman" pitchFamily="18"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    {          </a:t>
            </a:r>
            <a:endParaRPr lang="en-US" sz="2400" dirty="0">
              <a:latin typeface="Times New Roman" pitchFamily="18" charset="0"/>
              <a:cs typeface="Times New Roman" pitchFamily="18"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      </a:t>
            </a:r>
            <a:r>
              <a:rPr lang="en-US" sz="2400" dirty="0" err="1">
                <a:latin typeface="Times New Roman" pitchFamily="18" charset="0"/>
                <a:ea typeface="Calibri" pitchFamily="34" charset="0"/>
                <a:cs typeface="Times New Roman" pitchFamily="18" charset="0"/>
              </a:rPr>
              <a:t>lcd.setCursor</a:t>
            </a:r>
            <a:r>
              <a:rPr lang="en-US" sz="2400" dirty="0">
                <a:latin typeface="Times New Roman" pitchFamily="18" charset="0"/>
                <a:ea typeface="Calibri" pitchFamily="34" charset="0"/>
                <a:cs typeface="Times New Roman" pitchFamily="18" charset="0"/>
              </a:rPr>
              <a:t>(4,0);</a:t>
            </a:r>
            <a:r>
              <a:rPr lang="en-US" sz="2400" dirty="0" err="1">
                <a:latin typeface="Times New Roman" pitchFamily="18" charset="0"/>
                <a:ea typeface="Calibri" pitchFamily="34" charset="0"/>
                <a:cs typeface="Times New Roman" pitchFamily="18" charset="0"/>
              </a:rPr>
              <a:t>lcd.print</a:t>
            </a:r>
            <a:r>
              <a:rPr lang="en-US" sz="2400" dirty="0">
                <a:latin typeface="Times New Roman" pitchFamily="18" charset="0"/>
                <a:ea typeface="Calibri" pitchFamily="34" charset="0"/>
                <a:cs typeface="Times New Roman" pitchFamily="18" charset="0"/>
              </a:rPr>
              <a:t>("</a:t>
            </a:r>
            <a:r>
              <a:rPr lang="en-US" sz="2400" dirty="0" err="1">
                <a:latin typeface="Times New Roman" pitchFamily="18" charset="0"/>
                <a:ea typeface="Calibri" pitchFamily="34" charset="0"/>
                <a:cs typeface="Times New Roman" pitchFamily="18" charset="0"/>
              </a:rPr>
              <a:t>Dry_Pump_ON</a:t>
            </a:r>
            <a:r>
              <a:rPr lang="en-US" sz="2400" dirty="0">
                <a:latin typeface="Times New Roman" pitchFamily="18" charset="0"/>
                <a:ea typeface="Calibri" pitchFamily="34" charset="0"/>
                <a:cs typeface="Times New Roman" pitchFamily="18" charset="0"/>
              </a:rPr>
              <a:t> ");</a:t>
            </a:r>
            <a:endParaRPr lang="en-US" sz="2400" dirty="0">
              <a:latin typeface="Times New Roman" pitchFamily="18" charset="0"/>
              <a:cs typeface="Times New Roman" pitchFamily="18"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      </a:t>
            </a:r>
            <a:r>
              <a:rPr lang="en-US" sz="2400" dirty="0" err="1">
                <a:latin typeface="Times New Roman" pitchFamily="18" charset="0"/>
                <a:ea typeface="Calibri" pitchFamily="34" charset="0"/>
                <a:cs typeface="Times New Roman" pitchFamily="18" charset="0"/>
              </a:rPr>
              <a:t>digitalWrite</a:t>
            </a:r>
            <a:r>
              <a:rPr lang="en-US" sz="2400" dirty="0">
                <a:latin typeface="Times New Roman" pitchFamily="18" charset="0"/>
                <a:ea typeface="Calibri" pitchFamily="34" charset="0"/>
                <a:cs typeface="Times New Roman" pitchFamily="18" charset="0"/>
              </a:rPr>
              <a:t>(pump, HIGH);</a:t>
            </a:r>
            <a:endParaRPr lang="en-US" sz="2400" dirty="0">
              <a:latin typeface="Times New Roman" pitchFamily="18" charset="0"/>
              <a:cs typeface="Times New Roman" pitchFamily="18"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    }</a:t>
            </a:r>
            <a:endParaRPr lang="en-US" sz="2400" dirty="0">
              <a:latin typeface="Times New Roman" pitchFamily="18" charset="0"/>
              <a:cs typeface="Times New Roman" pitchFamily="18"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  delay(800);   </a:t>
            </a:r>
            <a:endParaRPr lang="en-US" sz="2400" dirty="0">
              <a:latin typeface="Times New Roman" pitchFamily="18" charset="0"/>
              <a:cs typeface="Times New Roman" pitchFamily="18" charset="0"/>
            </a:endParaRPr>
          </a:p>
          <a:p>
            <a:pPr lvl="0" eaLnBrk="0" fontAlgn="base" hangingPunct="0">
              <a:spcBef>
                <a:spcPct val="0"/>
              </a:spcBef>
              <a:spcAft>
                <a:spcPct val="0"/>
              </a:spcAft>
            </a:pPr>
            <a:r>
              <a:rPr lang="en-US" sz="2400" dirty="0">
                <a:latin typeface="Times New Roman" pitchFamily="18" charset="0"/>
                <a:ea typeface="Calibri" pitchFamily="34" charset="0"/>
                <a:cs typeface="Times New Roman" pitchFamily="18" charset="0"/>
              </a:rPr>
              <a:t>}</a:t>
            </a:r>
            <a:endParaRPr lang="en-US" sz="2400" dirty="0"/>
          </a:p>
        </p:txBody>
      </p:sp>
      <p:sp>
        <p:nvSpPr>
          <p:cNvPr id="7" name="Title 6">
            <a:extLst>
              <a:ext uri="{FF2B5EF4-FFF2-40B4-BE49-F238E27FC236}">
                <a16:creationId xmlns:a16="http://schemas.microsoft.com/office/drawing/2014/main" id="{66F33B6C-28F4-A61E-75B3-72E8A0A75EC8}"/>
              </a:ext>
            </a:extLst>
          </p:cNvPr>
          <p:cNvSpPr>
            <a:spLocks noGrp="1"/>
          </p:cNvSpPr>
          <p:nvPr>
            <p:ph type="title"/>
          </p:nvPr>
        </p:nvSpPr>
        <p:spPr/>
        <p:txBody>
          <a:bodyPr/>
          <a:lstStyle/>
          <a:p>
            <a:endParaRPr lang="en-IN"/>
          </a:p>
        </p:txBody>
      </p:sp>
      <p:sp>
        <p:nvSpPr>
          <p:cNvPr id="9" name="Content Placeholder 8">
            <a:extLst>
              <a:ext uri="{FF2B5EF4-FFF2-40B4-BE49-F238E27FC236}">
                <a16:creationId xmlns:a16="http://schemas.microsoft.com/office/drawing/2014/main" id="{48098FDA-9BB8-A538-280A-550B78C59E52}"/>
              </a:ext>
            </a:extLst>
          </p:cNvPr>
          <p:cNvSpPr>
            <a:spLocks noGrp="1"/>
          </p:cNvSpPr>
          <p:nvPr>
            <p:ph idx="1"/>
          </p:nvPr>
        </p:nvSpPr>
        <p:spPr/>
        <p:txBody>
          <a:bodyPr/>
          <a:lstStyle/>
          <a:p>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trp.jpeg">
            <a:extLst>
              <a:ext uri="{FF2B5EF4-FFF2-40B4-BE49-F238E27FC236}">
                <a16:creationId xmlns:a16="http://schemas.microsoft.com/office/drawing/2014/main" id="{4B1A2ED3-084C-6EA6-FE05-6F3FA652ED68}"/>
              </a:ext>
            </a:extLst>
          </p:cNvPr>
          <p:cNvPicPr>
            <a:picLocks noChangeAspect="1"/>
          </p:cNvPicPr>
          <p:nvPr/>
        </p:nvPicPr>
        <p:blipFill>
          <a:blip r:embed="rId2"/>
          <a:stretch>
            <a:fillRect/>
          </a:stretch>
        </p:blipFill>
        <p:spPr>
          <a:xfrm rot="16200000">
            <a:off x="3746766" y="1663386"/>
            <a:ext cx="3118585" cy="4880008"/>
          </a:xfrm>
          <a:prstGeom prst="rect">
            <a:avLst/>
          </a:prstGeom>
        </p:spPr>
      </p:pic>
      <p:sp>
        <p:nvSpPr>
          <p:cNvPr id="6" name="TextBox 5">
            <a:extLst>
              <a:ext uri="{FF2B5EF4-FFF2-40B4-BE49-F238E27FC236}">
                <a16:creationId xmlns:a16="http://schemas.microsoft.com/office/drawing/2014/main" id="{6C584E54-15C3-A6A1-277B-05696B134D29}"/>
              </a:ext>
            </a:extLst>
          </p:cNvPr>
          <p:cNvSpPr txBox="1"/>
          <p:nvPr/>
        </p:nvSpPr>
        <p:spPr>
          <a:xfrm>
            <a:off x="1125794" y="1270509"/>
            <a:ext cx="4572000" cy="461665"/>
          </a:xfrm>
          <a:prstGeom prst="rect">
            <a:avLst/>
          </a:prstGeom>
          <a:noFill/>
        </p:spPr>
        <p:txBody>
          <a:bodyPr wrap="square">
            <a:spAutoFit/>
          </a:bodyPr>
          <a:lstStyle/>
          <a:p>
            <a:r>
              <a:rPr lang="en-US" sz="2400" b="1" dirty="0">
                <a:latin typeface="Times New Roman" pitchFamily="18" charset="0"/>
                <a:cs typeface="Times New Roman" pitchFamily="18" charset="0"/>
              </a:rPr>
              <a:t>Results:</a:t>
            </a:r>
            <a:endParaRPr lang="en-IN" sz="2400" dirty="0"/>
          </a:p>
        </p:txBody>
      </p:sp>
    </p:spTree>
    <p:extLst>
      <p:ext uri="{BB962C8B-B14F-4D97-AF65-F5344CB8AC3E}">
        <p14:creationId xmlns:p14="http://schemas.microsoft.com/office/powerpoint/2010/main" val="11063583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6044" y="607809"/>
            <a:ext cx="3186266" cy="485366"/>
          </a:xfrm>
        </p:spPr>
        <p:txBody>
          <a:bodyPr>
            <a:normAutofit/>
          </a:bodyPr>
          <a:lstStyle/>
          <a:p>
            <a:r>
              <a:rPr sz="2600" b="1" dirty="0">
                <a:latin typeface="Times New Roman" pitchFamily="18" charset="0"/>
                <a:cs typeface="Times New Roman" pitchFamily="18" charset="0"/>
              </a:rPr>
              <a:t>C</a:t>
            </a:r>
            <a:r>
              <a:rPr lang="en-US" sz="2600" b="1" dirty="0">
                <a:latin typeface="Times New Roman" pitchFamily="18" charset="0"/>
                <a:cs typeface="Times New Roman" pitchFamily="18" charset="0"/>
              </a:rPr>
              <a:t>ONCLUSION</a:t>
            </a:r>
            <a:endParaRPr sz="2600" b="1" dirty="0">
              <a:latin typeface="Times New Roman" pitchFamily="18" charset="0"/>
              <a:cs typeface="Times New Roman" pitchFamily="18" charset="0"/>
            </a:endParaRPr>
          </a:p>
        </p:txBody>
      </p:sp>
      <p:sp>
        <p:nvSpPr>
          <p:cNvPr id="3" name="Content Placeholder 2"/>
          <p:cNvSpPr>
            <a:spLocks noGrp="1"/>
          </p:cNvSpPr>
          <p:nvPr>
            <p:ph idx="1"/>
          </p:nvPr>
        </p:nvSpPr>
        <p:spPr>
          <a:xfrm>
            <a:off x="309716" y="1280161"/>
            <a:ext cx="8680280" cy="4727348"/>
          </a:xfrm>
        </p:spPr>
        <p:txBody>
          <a:bodyPr>
            <a:noAutofit/>
          </a:bodyPr>
          <a:lstStyle/>
          <a:p>
            <a:pPr marL="0" indent="0">
              <a:lnSpc>
                <a:spcPct val="150000"/>
              </a:lnSpc>
              <a:buNone/>
            </a:pPr>
            <a:r>
              <a:rPr lang="en-US" sz="2400" dirty="0">
                <a:latin typeface="Times New Roman" pitchFamily="18" charset="0"/>
                <a:cs typeface="Times New Roman" pitchFamily="18" charset="0"/>
              </a:rPr>
              <a:t>The automatic irrigation system is an effective solution for modern farming. It uses soil moisture to control watering of plants. The system works automatically without human intervention. It ensures that plants get the right amount of water. This improves crop yield. It helps in saving water resources. It also reduces the workload of farmers. It is suitable for farms, gardens, and greenhouses. It can be further improved using advanced technologies. Overall, it is a smart and efficient irrigation method. It supports sustainable agriculture. It is a useful project for real-time applications.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00" b="1" dirty="0">
                <a:latin typeface="Times New Roman" pitchFamily="18" charset="0"/>
                <a:cs typeface="Times New Roman" pitchFamily="18" charset="0"/>
              </a:rPr>
              <a:t>Future Enhancement:</a:t>
            </a:r>
          </a:p>
        </p:txBody>
      </p:sp>
      <p:sp>
        <p:nvSpPr>
          <p:cNvPr id="3" name="Content Placeholder 2"/>
          <p:cNvSpPr>
            <a:spLocks noGrp="1"/>
          </p:cNvSpPr>
          <p:nvPr>
            <p:ph idx="1"/>
          </p:nvPr>
        </p:nvSpPr>
        <p:spPr>
          <a:xfrm>
            <a:off x="628650" y="1690689"/>
            <a:ext cx="7886700" cy="4351338"/>
          </a:xfrm>
        </p:spPr>
        <p:txBody>
          <a:bodyPr>
            <a:normAutofit/>
          </a:bodyPr>
          <a:lstStyle/>
          <a:p>
            <a:pPr>
              <a:lnSpc>
                <a:spcPct val="150000"/>
              </a:lnSpc>
            </a:pPr>
            <a:r>
              <a:rPr lang="en-US" sz="2400" dirty="0">
                <a:latin typeface="Times New Roman" pitchFamily="18" charset="0"/>
                <a:cs typeface="Times New Roman" pitchFamily="18" charset="0"/>
              </a:rPr>
              <a:t>Mobile App Integration</a:t>
            </a:r>
          </a:p>
          <a:p>
            <a:pPr>
              <a:lnSpc>
                <a:spcPct val="150000"/>
              </a:lnSpc>
            </a:pPr>
            <a:r>
              <a:rPr lang="en-US" sz="2400" dirty="0">
                <a:latin typeface="Times New Roman" pitchFamily="18" charset="0"/>
                <a:cs typeface="Times New Roman" pitchFamily="18" charset="0"/>
              </a:rPr>
              <a:t>IOT Support</a:t>
            </a:r>
          </a:p>
          <a:p>
            <a:pPr>
              <a:lnSpc>
                <a:spcPct val="150000"/>
              </a:lnSpc>
            </a:pPr>
            <a:r>
              <a:rPr lang="en-US" sz="2400" dirty="0">
                <a:latin typeface="Times New Roman" pitchFamily="18" charset="0"/>
                <a:cs typeface="Times New Roman" pitchFamily="18" charset="0"/>
              </a:rPr>
              <a:t>Weather Forecast Integration</a:t>
            </a:r>
          </a:p>
          <a:p>
            <a:pPr>
              <a:lnSpc>
                <a:spcPct val="150000"/>
              </a:lnSpc>
            </a:pPr>
            <a:r>
              <a:rPr lang="en-US" sz="2400" dirty="0">
                <a:latin typeface="Times New Roman" pitchFamily="18" charset="0"/>
                <a:cs typeface="Times New Roman" pitchFamily="18" charset="0"/>
              </a:rPr>
              <a:t>AI &amp; Machine Learning</a:t>
            </a:r>
          </a:p>
          <a:p>
            <a:pPr>
              <a:lnSpc>
                <a:spcPct val="150000"/>
              </a:lnSpc>
            </a:pPr>
            <a:r>
              <a:rPr lang="en-US" sz="2400" dirty="0">
                <a:latin typeface="Times New Roman" pitchFamily="18" charset="0"/>
                <a:cs typeface="Times New Roman" pitchFamily="18" charset="0"/>
              </a:rPr>
              <a:t>Solar power System</a:t>
            </a:r>
          </a:p>
          <a:p>
            <a:pPr>
              <a:lnSpc>
                <a:spcPct val="150000"/>
              </a:lnSpc>
            </a:pPr>
            <a:r>
              <a:rPr lang="en-US" sz="2400" dirty="0">
                <a:latin typeface="Times New Roman" pitchFamily="18" charset="0"/>
                <a:cs typeface="Times New Roman" pitchFamily="18" charset="0"/>
              </a:rPr>
              <a:t>Crop-specific Automation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600" b="1" dirty="0">
                <a:latin typeface="Times New Roman" pitchFamily="18" charset="0"/>
                <a:cs typeface="Times New Roman" pitchFamily="18" charset="0"/>
              </a:rPr>
              <a:t>References:</a:t>
            </a:r>
          </a:p>
        </p:txBody>
      </p:sp>
      <p:sp>
        <p:nvSpPr>
          <p:cNvPr id="3" name="Content Placeholder 2"/>
          <p:cNvSpPr>
            <a:spLocks noGrp="1"/>
          </p:cNvSpPr>
          <p:nvPr>
            <p:ph idx="1"/>
          </p:nvPr>
        </p:nvSpPr>
        <p:spPr>
          <a:xfrm>
            <a:off x="628650" y="1690689"/>
            <a:ext cx="7886700" cy="4351338"/>
          </a:xfrm>
        </p:spPr>
        <p:txBody>
          <a:bodyPr>
            <a:normAutofit/>
          </a:bodyPr>
          <a:lstStyle/>
          <a:p>
            <a:r>
              <a:rPr lang="en-IN" sz="2400" dirty="0">
                <a:latin typeface="Times New Roman" pitchFamily="18" charset="0"/>
                <a:cs typeface="Times New Roman" pitchFamily="18" charset="0"/>
              </a:rPr>
              <a:t>Romero, R. et al., </a:t>
            </a:r>
            <a:r>
              <a:rPr lang="en-IN" sz="2400" i="1" dirty="0">
                <a:latin typeface="Times New Roman" pitchFamily="18" charset="0"/>
                <a:cs typeface="Times New Roman" pitchFamily="18" charset="0"/>
              </a:rPr>
              <a:t>Research on automatic irrigation control: State of the art and recent developments</a:t>
            </a:r>
            <a:r>
              <a:rPr lang="en-IN" sz="2400" dirty="0">
                <a:latin typeface="Times New Roman" pitchFamily="18" charset="0"/>
                <a:cs typeface="Times New Roman" pitchFamily="18" charset="0"/>
              </a:rPr>
              <a:t>, </a:t>
            </a:r>
            <a:r>
              <a:rPr lang="en-IN" sz="2400" i="1" dirty="0">
                <a:latin typeface="Times New Roman" pitchFamily="18" charset="0"/>
                <a:cs typeface="Times New Roman" pitchFamily="18" charset="0"/>
              </a:rPr>
              <a:t>Agricultural Water Management</a:t>
            </a:r>
            <a:r>
              <a:rPr lang="en-IN" sz="2400" dirty="0">
                <a:latin typeface="Times New Roman" pitchFamily="18" charset="0"/>
                <a:cs typeface="Times New Roman" pitchFamily="18" charset="0"/>
              </a:rPr>
              <a:t> </a:t>
            </a:r>
          </a:p>
          <a:p>
            <a:pPr lvl="0"/>
            <a:r>
              <a:rPr lang="en-IN" sz="2400" dirty="0" err="1">
                <a:latin typeface="Times New Roman" pitchFamily="18" charset="0"/>
                <a:cs typeface="Times New Roman" pitchFamily="18" charset="0"/>
              </a:rPr>
              <a:t>Nagalingam</a:t>
            </a:r>
            <a:r>
              <a:rPr lang="en-IN" sz="2400" dirty="0">
                <a:latin typeface="Times New Roman" pitchFamily="18" charset="0"/>
                <a:cs typeface="Times New Roman" pitchFamily="18" charset="0"/>
              </a:rPr>
              <a:t>, R., </a:t>
            </a:r>
            <a:r>
              <a:rPr lang="en-IN" sz="2400" i="1" dirty="0">
                <a:latin typeface="Times New Roman" pitchFamily="18" charset="0"/>
                <a:cs typeface="Times New Roman" pitchFamily="18" charset="0"/>
              </a:rPr>
              <a:t>Automatic monitoring of soil moisture and irrigation control</a:t>
            </a:r>
            <a:r>
              <a:rPr lang="en-IN" sz="2400" dirty="0">
                <a:latin typeface="Times New Roman" pitchFamily="18" charset="0"/>
                <a:cs typeface="Times New Roman" pitchFamily="18" charset="0"/>
              </a:rPr>
              <a:t>, </a:t>
            </a:r>
            <a:r>
              <a:rPr lang="en-IN" sz="2400" i="1" dirty="0">
                <a:latin typeface="Times New Roman" pitchFamily="18" charset="0"/>
                <a:cs typeface="Times New Roman" pitchFamily="18" charset="0"/>
              </a:rPr>
              <a:t>Current Agriculture Research Journal</a:t>
            </a:r>
            <a:r>
              <a:rPr lang="en-IN" sz="2400" dirty="0">
                <a:latin typeface="Times New Roman" pitchFamily="18" charset="0"/>
                <a:cs typeface="Times New Roman" pitchFamily="18" charset="0"/>
              </a:rPr>
              <a:t> — combined moisture sensing and automatic irrigation operation. </a:t>
            </a:r>
            <a:endParaRPr lang="en-US" sz="2400" dirty="0">
              <a:latin typeface="Times New Roman" pitchFamily="18" charset="0"/>
              <a:cs typeface="Times New Roman" pitchFamily="18" charset="0"/>
            </a:endParaRPr>
          </a:p>
          <a:p>
            <a:pPr lvl="0"/>
            <a:r>
              <a:rPr lang="en-IN" sz="2400" dirty="0" err="1">
                <a:latin typeface="Times New Roman" pitchFamily="18" charset="0"/>
                <a:cs typeface="Times New Roman" pitchFamily="18" charset="0"/>
              </a:rPr>
              <a:t>Pramanik</a:t>
            </a:r>
            <a:r>
              <a:rPr lang="en-IN" sz="2400" dirty="0">
                <a:latin typeface="Times New Roman" pitchFamily="18" charset="0"/>
                <a:cs typeface="Times New Roman" pitchFamily="18" charset="0"/>
              </a:rPr>
              <a:t>, M., </a:t>
            </a:r>
            <a:r>
              <a:rPr lang="en-IN" sz="2400" dirty="0" err="1">
                <a:latin typeface="Times New Roman" pitchFamily="18" charset="0"/>
                <a:cs typeface="Times New Roman" pitchFamily="18" charset="0"/>
              </a:rPr>
              <a:t>Khanna</a:t>
            </a:r>
            <a:r>
              <a:rPr lang="en-IN" sz="2400" dirty="0">
                <a:latin typeface="Times New Roman" pitchFamily="18" charset="0"/>
                <a:cs typeface="Times New Roman" pitchFamily="18" charset="0"/>
              </a:rPr>
              <a:t>, M., Singh, M., et al., </a:t>
            </a:r>
            <a:r>
              <a:rPr lang="en-IN" sz="2400" i="1" dirty="0">
                <a:latin typeface="Times New Roman" pitchFamily="18" charset="0"/>
                <a:cs typeface="Times New Roman" pitchFamily="18" charset="0"/>
              </a:rPr>
              <a:t>Automation of soil moisture sensor-based basin irrigation system</a:t>
            </a:r>
            <a:r>
              <a:rPr lang="en-IN" sz="2400" dirty="0">
                <a:latin typeface="Times New Roman" pitchFamily="18" charset="0"/>
                <a:cs typeface="Times New Roman" pitchFamily="18" charset="0"/>
              </a:rPr>
              <a:t>, </a:t>
            </a:r>
            <a:r>
              <a:rPr lang="en-IN" sz="2400" i="1" dirty="0">
                <a:latin typeface="Times New Roman" pitchFamily="18" charset="0"/>
                <a:cs typeface="Times New Roman" pitchFamily="18" charset="0"/>
              </a:rPr>
              <a:t>Advanced Technology</a:t>
            </a:r>
            <a:r>
              <a:rPr lang="en-IN" sz="2400" dirty="0">
                <a:latin typeface="Times New Roman" pitchFamily="18" charset="0"/>
                <a:cs typeface="Times New Roman" pitchFamily="18" charset="0"/>
              </a:rPr>
              <a:t> (2021) — </a:t>
            </a:r>
            <a:r>
              <a:rPr lang="en-IN" sz="2400" dirty="0" err="1">
                <a:latin typeface="Times New Roman" pitchFamily="18" charset="0"/>
                <a:cs typeface="Times New Roman" pitchFamily="18" charset="0"/>
              </a:rPr>
              <a:t>IoT</a:t>
            </a:r>
            <a:r>
              <a:rPr lang="en-IN" sz="2400" dirty="0">
                <a:latin typeface="Times New Roman" pitchFamily="18" charset="0"/>
                <a:cs typeface="Times New Roman" pitchFamily="18" charset="0"/>
              </a:rPr>
              <a:t> and sensor network for automatic soil moisture irrigation. </a:t>
            </a:r>
            <a:endParaRPr lang="en-US" sz="2400" dirty="0">
              <a:latin typeface="Times New Roman" pitchFamily="18" charset="0"/>
              <a:cs typeface="Times New Roman" pitchFamily="18" charset="0"/>
            </a:endParaRPr>
          </a:p>
          <a:p>
            <a:pPr>
              <a:buNone/>
            </a:pPr>
            <a:endParaRPr lang="en-US" sz="2400" dirty="0">
              <a:latin typeface="Times New Roman" pitchFamily="18" charset="0"/>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B38CF-8C25-D81C-85F5-6B37B3F3AC19}"/>
              </a:ext>
            </a:extLst>
          </p:cNvPr>
          <p:cNvSpPr>
            <a:spLocks noGrp="1"/>
          </p:cNvSpPr>
          <p:nvPr>
            <p:ph type="title"/>
          </p:nvPr>
        </p:nvSpPr>
        <p:spPr/>
        <p:txBody>
          <a:bodyPr>
            <a:normAutofit/>
          </a:bodyPr>
          <a:lstStyle/>
          <a:p>
            <a:pPr algn="ctr"/>
            <a:r>
              <a:rPr lang="en-US" sz="2800" b="1" dirty="0" err="1">
                <a:latin typeface="Times New Roman" panose="02020603050405020304" pitchFamily="18" charset="0"/>
                <a:cs typeface="Times New Roman" panose="02020603050405020304" pitchFamily="18" charset="0"/>
              </a:rPr>
              <a:t>Github</a:t>
            </a:r>
            <a:r>
              <a:rPr lang="en-US" sz="2800" b="1" dirty="0">
                <a:latin typeface="Times New Roman" panose="02020603050405020304" pitchFamily="18" charset="0"/>
                <a:cs typeface="Times New Roman" panose="02020603050405020304" pitchFamily="18" charset="0"/>
              </a:rPr>
              <a:t> link</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FF3970D-95F9-14ED-E3D4-4B03A4465ACB}"/>
              </a:ext>
            </a:extLst>
          </p:cNvPr>
          <p:cNvSpPr txBox="1"/>
          <p:nvPr/>
        </p:nvSpPr>
        <p:spPr>
          <a:xfrm>
            <a:off x="796105" y="1839084"/>
            <a:ext cx="7886700" cy="830997"/>
          </a:xfrm>
          <a:prstGeom prst="rect">
            <a:avLst/>
          </a:prstGeom>
          <a:noFill/>
        </p:spPr>
        <p:txBody>
          <a:bodyPr wrap="square">
            <a:spAutoFit/>
          </a:bodyPr>
          <a:lstStyle/>
          <a:p>
            <a:r>
              <a:rPr lang="en-IN" sz="2400" dirty="0">
                <a:latin typeface="Times New Roman" panose="02020603050405020304" pitchFamily="18" charset="0"/>
                <a:ea typeface="Calibri" panose="020F0502020204030204" pitchFamily="34" charset="0"/>
                <a:cs typeface="Times New Roman" panose="02020603050405020304" pitchFamily="18" charset="0"/>
              </a:rPr>
              <a:t>https://github.com/Manojkumar128/Automated-control-system-for-air-pollution-detection-in-vehicles.git</a:t>
            </a:r>
          </a:p>
        </p:txBody>
      </p:sp>
    </p:spTree>
    <p:extLst>
      <p:ext uri="{BB962C8B-B14F-4D97-AF65-F5344CB8AC3E}">
        <p14:creationId xmlns:p14="http://schemas.microsoft.com/office/powerpoint/2010/main" val="1547466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182</TotalTime>
  <Words>1402</Words>
  <Application>Microsoft Office PowerPoint</Application>
  <PresentationFormat>On-screen Show (4:3)</PresentationFormat>
  <Paragraphs>158</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CMR TECHNICAL CAMPUS</vt:lpstr>
      <vt:lpstr>ABSTRACT</vt:lpstr>
      <vt:lpstr>EXISTING SYSTEM </vt:lpstr>
      <vt:lpstr>DISADVANTAGES </vt:lpstr>
      <vt:lpstr>PROPOSED SYSTEM</vt:lpstr>
      <vt:lpstr>ADVANTAGES</vt:lpstr>
      <vt:lpstr>HARDWARE REQUIREMETS</vt:lpstr>
      <vt:lpstr>PowerPoint Presentation</vt:lpstr>
      <vt:lpstr>NOVELITY OF THE PROJECT</vt:lpstr>
      <vt:lpstr>ARCHITECTURE</vt:lpstr>
      <vt:lpstr>MODULES</vt:lpstr>
      <vt:lpstr>UML - Use Case Diagram</vt:lpstr>
      <vt:lpstr>UML - Class Diagram</vt:lpstr>
      <vt:lpstr>UML - Sequence Diagram</vt:lpstr>
      <vt:lpstr>UML - Activity Diagram</vt:lpstr>
      <vt:lpstr>Source code:</vt:lpstr>
      <vt:lpstr>PowerPoint Presentation</vt:lpstr>
      <vt:lpstr>PowerPoint Presentation</vt:lpstr>
      <vt:lpstr>PowerPoint Presentation</vt:lpstr>
      <vt:lpstr>PowerPoint Presentation</vt:lpstr>
      <vt:lpstr>PowerPoint Presentation</vt:lpstr>
      <vt:lpstr>CONCLUSION</vt:lpstr>
      <vt:lpstr>Future Enhancement:</vt:lpstr>
      <vt:lpstr>References:</vt:lpstr>
      <vt:lpstr>Github link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CMR TECHNICAL CAMPUS</dc:title>
  <dc:creator>MADHU</dc:creator>
  <dc:description>generated using python-pptx</dc:description>
  <cp:lastModifiedBy>manoj kumar ainala</cp:lastModifiedBy>
  <cp:revision>18</cp:revision>
  <dcterms:created xsi:type="dcterms:W3CDTF">2013-01-27T09:14:00Z</dcterms:created>
  <dcterms:modified xsi:type="dcterms:W3CDTF">2026-03-28T07:10:16Z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9C67E90B923C4E41ABD6C3A887CC7728_12</vt:lpwstr>
  </property>
  <property fmtid="{D5CDD505-2E9C-101B-9397-08002B2CF9AE}" pid="3" name="KSOProductBuildVer">
    <vt:lpwstr>1033-12.2.0.23196</vt:lpwstr>
  </property>
</Properties>
</file>